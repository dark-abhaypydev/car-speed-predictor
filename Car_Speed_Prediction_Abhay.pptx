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 xmlns="">
        <p14:section name="Intro" id="{54885544-b435-b173-8be4-1d1e92736019}">
          <p14:sldIdLst>
            <p14:sldId id="256"/>
          </p14:sldIdLst>
        </p14:section>
        <p14:section name="Roadmap" id="{99ff317c-4e54-ce2c-41d2-c15086a1693b}">
          <p14:sldIdLst>
            <p14:sldId id="257"/>
            <p14:sldId id="258"/>
            <p14:sldId id="259"/>
            <p14:sldId id="260"/>
          </p14:sldIdLst>
        </p14:section>
        <p14:section name="Explore &amp; Split" id="{bafab0d4-a098-c01b-0598-a512a66ccc25}">
          <p14:sldIdLst>
            <p14:sldId id="261"/>
            <p14:sldId id="262"/>
            <p14:sldId id="263"/>
          </p14:sldIdLst>
        </p14:section>
        <p14:section name="Model &amp; Predict" id="{195700c9-3c7f-eaa3-be10-5f7ab05cbc01}">
          <p14:sldIdLst>
            <p14:sldId id="264"/>
            <p14:sldId id="265"/>
          </p14:sldIdLst>
        </p14:section>
        <p14:section name="Wrap-up" id="{56774010-c477-6aa2-31e8-b845b6ad4507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-316" y="-6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Namaste! Main Abhay Singh, aur mera project hai Car Speed Prediction using Linear Regression. Isme hum driving aur engine ke inputs se gaadi ki speed predict karte hain.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Pehle roadmap: project 3 phases me hai. Data Preparation: libraries, dataset inspect, quality check. Explore &amp; Split: features aur target, graphs, train-test split aur model. Model &amp; Predict: performance aur ek example prediction.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Sabse pehle libraries import ki. Pandas data load karne ke liye, NumPy calculations ke liye, Matplotlib graphs ke liye aur Joblib se trained model .pkl me save hota hai. scikit-learn se train_test_split, LinearRegression aur metrics. Sab kuch Google Colab notebook me chalaya.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Dataset samajhne ke liye 5 basic checks. head() se pehli rows, shape se 20,000 rows aur 14 columns, columns se naam, info() se data types, describe() se summary. Speed 0 se 124.02 km/h tak hai.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quality me do checks: missing values aur duplicate rows. isnull().sum() aur duplicated().sum() dono me 0 mila, matlab data clean hai. Training se pehle duplicates drop aur required columns check hote hain.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Features yaani inputs: RPM, throttle, brake pressure, engine load, gear aur road slope. Target hai vehicle_speed_kph, jo model ko predict karna seekhna hai.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train karne se pehle graphs dekhe. Throttle aur RPM dono ka speed ke saath seedha linear relation dikhta hai, isliye Linear Regression ek achha baseline hai.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Dataset ko 80 aur 20 percent me toda: 16,000 rows training ke liye aur 4,000 test ke liye. random_state 42 se har baar same split milta hai. Linear Regression isliye kyunki speed continuous value hai. model.fit() se model training data par seekhta hai.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X_test par model.predict() chalaya to y_pred mila, aur usse y_test se compare kiya. MAE 3.65 km/h, RMSE 4.60 km/h, R-squared 0.9647, yaani 96.47 percent variance explain hota hai. Actual vs predicted graph me points diagonal ke paas hain. Ye test data par hai, jo training me use nahi hua.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Aakhri step: naya input diya, RPM 3000, throttle 45 percent, brake 0, load 40 percent, gear 3, slope 0. model.predict(new_data) se 46.51 km/h mila. Summary: data clean kiya, 80 percent par train kiya, R-squared 0.9647 se evaluate kiya aur ab nayi speed predict kar sakte hain. Data synthetic hai, isliye real-world validation future scope hai.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Itna hi tha mera project: Car Speed Prediction using Linear Regression. Dhanyavaad! Ab aap koi sawaal pooch sakte hain.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split orient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split orient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6587D"/>
                </a:solidFill>
              </a:rPr>
              <a:t>Infopark Institute  |  Car Speed Prediction</a:t>
            </a:r>
            <a:endParaRPr lang="en-US" sz="9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6587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pPr algn="r"/>
              <a:t>‹#›</a:t>
            </a:fld>
            <a:endParaRPr lang="en-US"/>
          </a:p>
        </p:txBody>
      </p:sp>
    </p:spTree>
  </p:cSld>
  <p:clrMapOvr>
    <a:masterClrMapping/>
  </p:clrMapOvr>
  <p:transition>
    <p:split orient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</p:spTree>
  </p:cSld>
  <p:clrMapOvr>
    <a:masterClrMapping/>
  </p:clrMapOvr>
  <p:transition>
    <p:split orient="vert"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6587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pPr algn="r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ransition>
    <p:split orient="vert"/>
  </p:transition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4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6.png"/><Relationship Id="rId5" Type="http://schemas.openxmlformats.org/officeDocument/2006/relationships/image" Target="../media/image35.png"/><Relationship Id="rId10" Type="http://schemas.openxmlformats.org/officeDocument/2006/relationships/image" Target="../media/image24.png"/><Relationship Id="rId4" Type="http://schemas.openxmlformats.org/officeDocument/2006/relationships/image" Target="../media/image6.png"/><Relationship Id="rId9" Type="http://schemas.openxmlformats.org/officeDocument/2006/relationships/image" Target="../media/image3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ject pill"/>
          <p:cNvSpPr/>
          <p:nvPr/>
        </p:nvSpPr>
        <p:spPr>
          <a:xfrm>
            <a:off x="3154680" y="178308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BFD8F6"/>
          </a:solidFill>
          <a:ln w="12700">
            <a:solidFill>
              <a:srgbClr val="BFD8F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154680" y="17830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3A6B"/>
                </a:solidFill>
              </a:rPr>
              <a:t>PROJECT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33172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E3A6B"/>
                </a:solidFill>
              </a:rPr>
              <a:t>CAR SPEED PREDICTION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06324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762A8"/>
                </a:solidFill>
              </a:rPr>
              <a:t>using Linear Regression  •  Machine Learning</a:t>
            </a:r>
            <a:endParaRPr lang="en-US" sz="1600" dirty="0"/>
          </a:p>
        </p:txBody>
      </p:sp>
      <p:pic>
        <p:nvPicPr>
          <p:cNvPr id="6" name="Icon guide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3675888"/>
            <a:ext cx="292608" cy="29260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28800" y="36118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762A8"/>
                </a:solidFill>
              </a:rPr>
              <a:t>Submitted To: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828800" y="386791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3A6B"/>
                </a:solidFill>
              </a:rPr>
              <a:t>Ritik Sir</a:t>
            </a:r>
            <a:endParaRPr lang="en-US" sz="1600" dirty="0"/>
          </a:p>
        </p:txBody>
      </p:sp>
      <p:sp>
        <p:nvSpPr>
          <p:cNvPr id="9" name="Divider"/>
          <p:cNvSpPr/>
          <p:nvPr/>
        </p:nvSpPr>
        <p:spPr>
          <a:xfrm>
            <a:off x="4069080" y="3611880"/>
            <a:ext cx="0" cy="594360"/>
          </a:xfrm>
          <a:prstGeom prst="line">
            <a:avLst/>
          </a:prstGeom>
          <a:noFill/>
          <a:ln w="12700">
            <a:solidFill>
              <a:srgbClr val="B5C8E6"/>
            </a:solidFill>
            <a:prstDash val="solid"/>
          </a:ln>
        </p:spPr>
      </p:sp>
      <p:pic>
        <p:nvPicPr>
          <p:cNvPr id="10" name="Icon student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3675888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754880" y="36118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762A8"/>
                </a:solidFill>
              </a:rPr>
              <a:t>Submitted By: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4754880" y="38679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3A6B"/>
                </a:solidFill>
              </a:rPr>
              <a:t>Abhay Singh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754880" y="4160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F5278"/>
                </a:solidFill>
              </a:rPr>
              <a:t>Roll No. 40  |  BCA  |  2026–27</a:t>
            </a:r>
            <a:endParaRPr lang="en-US" sz="1100" dirty="0"/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/>
          </p:nvPr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Project Roadmap</a:t>
            </a:r>
            <a:endParaRPr lang="en-US" sz="2800" dirty="0"/>
          </a:p>
        </p:txBody>
      </p:sp>
      <p:sp>
        <p:nvSpPr>
          <p:cNvPr id="3" name="Phase 1"/>
          <p:cNvSpPr/>
          <p:nvPr/>
        </p:nvSpPr>
        <p:spPr>
          <a:xfrm>
            <a:off x="457200" y="1005840"/>
            <a:ext cx="2560320" cy="457200"/>
          </a:xfrm>
          <a:prstGeom prst="roundRect">
            <a:avLst>
              <a:gd name="adj" fmla="val 50000"/>
            </a:avLst>
          </a:prstGeom>
          <a:solidFill>
            <a:srgbClr val="2762A8"/>
          </a:solidFill>
          <a:ln w="12700">
            <a:solidFill>
              <a:srgbClr val="2762A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058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Data Preparation</a:t>
            </a:r>
            <a:endParaRPr lang="en-US" sz="1500" dirty="0"/>
          </a:p>
        </p:txBody>
      </p:sp>
      <p:pic>
        <p:nvPicPr>
          <p:cNvPr id="5" name="Arrow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6664" y="1106424"/>
            <a:ext cx="256032" cy="256032"/>
          </a:xfrm>
          <a:prstGeom prst="rect">
            <a:avLst/>
          </a:prstGeom>
        </p:spPr>
      </p:pic>
      <p:sp>
        <p:nvSpPr>
          <p:cNvPr id="6" name="Step card 1"/>
          <p:cNvSpPr/>
          <p:nvPr/>
        </p:nvSpPr>
        <p:spPr>
          <a:xfrm>
            <a:off x="457200" y="1783080"/>
            <a:ext cx="2560320" cy="749808"/>
          </a:xfrm>
          <a:prstGeom prst="roundRect">
            <a:avLst>
              <a:gd name="adj" fmla="val 12195"/>
            </a:avLst>
          </a:prstGeom>
          <a:solidFill>
            <a:srgbClr val="FFFFFF">
              <a:alpha val="58000"/>
            </a:srgbClr>
          </a:solidFill>
          <a:ln w="15875">
            <a:solidFill>
              <a:srgbClr val="FFFFFF">
                <a:alpha val="75000"/>
              </a:srgbClr>
            </a:solidFill>
            <a:prstDash val="solid"/>
          </a:ln>
          <a:effectLst>
            <a:outerShdw blurRad="127000" dist="25400" dir="5400000" algn="bl" rotWithShape="0">
              <a:srgbClr val="1E3A6B">
                <a:alpha val="12000"/>
              </a:srgbClr>
            </a:outerShdw>
          </a:effectLst>
        </p:spPr>
      </p:sp>
      <p:sp>
        <p:nvSpPr>
          <p:cNvPr id="7" name="Step badge 1"/>
          <p:cNvSpPr/>
          <p:nvPr/>
        </p:nvSpPr>
        <p:spPr>
          <a:xfrm>
            <a:off x="594360" y="1975104"/>
            <a:ext cx="365760" cy="365760"/>
          </a:xfrm>
          <a:prstGeom prst="ellipse">
            <a:avLst/>
          </a:prstGeom>
          <a:solidFill>
            <a:srgbClr val="2762A8"/>
          </a:solidFill>
          <a:ln w="12700">
            <a:solidFill>
              <a:srgbClr val="2762A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4360" y="1975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078992" y="189280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6B"/>
                </a:solidFill>
              </a:rPr>
              <a:t>Import Libraries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078992" y="219456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F5278"/>
                </a:solidFill>
              </a:rPr>
              <a:t>Pandas, NumPy, sklearn</a:t>
            </a:r>
            <a:endParaRPr lang="en-US" sz="1100" dirty="0"/>
          </a:p>
        </p:txBody>
      </p:sp>
      <p:sp>
        <p:nvSpPr>
          <p:cNvPr id="11" name="Step card 2"/>
          <p:cNvSpPr/>
          <p:nvPr/>
        </p:nvSpPr>
        <p:spPr>
          <a:xfrm>
            <a:off x="457200" y="2697480"/>
            <a:ext cx="2560320" cy="749808"/>
          </a:xfrm>
          <a:prstGeom prst="roundRect">
            <a:avLst>
              <a:gd name="adj" fmla="val 12195"/>
            </a:avLst>
          </a:prstGeom>
          <a:solidFill>
            <a:srgbClr val="FFFFFF">
              <a:alpha val="58000"/>
            </a:srgbClr>
          </a:solidFill>
          <a:ln w="15875">
            <a:solidFill>
              <a:srgbClr val="FFFFFF">
                <a:alpha val="75000"/>
              </a:srgbClr>
            </a:solidFill>
            <a:prstDash val="solid"/>
          </a:ln>
          <a:effectLst>
            <a:outerShdw blurRad="127000" dist="25400" dir="5400000" algn="bl" rotWithShape="0">
              <a:srgbClr val="1E3A6B">
                <a:alpha val="12000"/>
              </a:srgbClr>
            </a:outerShdw>
          </a:effectLst>
        </p:spPr>
      </p:sp>
      <p:sp>
        <p:nvSpPr>
          <p:cNvPr id="12" name="Step badge 2"/>
          <p:cNvSpPr/>
          <p:nvPr/>
        </p:nvSpPr>
        <p:spPr>
          <a:xfrm>
            <a:off x="594360" y="2889504"/>
            <a:ext cx="365760" cy="365760"/>
          </a:xfrm>
          <a:prstGeom prst="ellipse">
            <a:avLst/>
          </a:prstGeom>
          <a:solidFill>
            <a:srgbClr val="2762A8"/>
          </a:solidFill>
          <a:ln w="12700">
            <a:solidFill>
              <a:srgbClr val="2762A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94360" y="28895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1078992" y="280720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6B"/>
                </a:solidFill>
              </a:rPr>
              <a:t>Inspect Dataset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078992" y="310896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F5278"/>
                </a:solidFill>
              </a:rPr>
              <a:t>head, shape, info</a:t>
            </a:r>
            <a:endParaRPr lang="en-US" sz="1100" dirty="0"/>
          </a:p>
        </p:txBody>
      </p:sp>
      <p:sp>
        <p:nvSpPr>
          <p:cNvPr id="16" name="Step card 3"/>
          <p:cNvSpPr/>
          <p:nvPr/>
        </p:nvSpPr>
        <p:spPr>
          <a:xfrm>
            <a:off x="457200" y="3611880"/>
            <a:ext cx="2560320" cy="749808"/>
          </a:xfrm>
          <a:prstGeom prst="roundRect">
            <a:avLst>
              <a:gd name="adj" fmla="val 12195"/>
            </a:avLst>
          </a:prstGeom>
          <a:solidFill>
            <a:srgbClr val="FFFFFF">
              <a:alpha val="58000"/>
            </a:srgbClr>
          </a:solidFill>
          <a:ln w="15875">
            <a:solidFill>
              <a:srgbClr val="FFFFFF">
                <a:alpha val="75000"/>
              </a:srgbClr>
            </a:solidFill>
            <a:prstDash val="solid"/>
          </a:ln>
          <a:effectLst>
            <a:outerShdw blurRad="127000" dist="25400" dir="5400000" algn="bl" rotWithShape="0">
              <a:srgbClr val="1E3A6B">
                <a:alpha val="12000"/>
              </a:srgbClr>
            </a:outerShdw>
          </a:effectLst>
        </p:spPr>
      </p:sp>
      <p:sp>
        <p:nvSpPr>
          <p:cNvPr id="17" name="Step badge 3"/>
          <p:cNvSpPr/>
          <p:nvPr/>
        </p:nvSpPr>
        <p:spPr>
          <a:xfrm>
            <a:off x="594360" y="3803904"/>
            <a:ext cx="365760" cy="365760"/>
          </a:xfrm>
          <a:prstGeom prst="ellipse">
            <a:avLst/>
          </a:prstGeom>
          <a:solidFill>
            <a:srgbClr val="2762A8"/>
          </a:solidFill>
          <a:ln w="12700">
            <a:solidFill>
              <a:srgbClr val="2762A8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94360" y="38039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372160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6B"/>
                </a:solidFill>
              </a:rPr>
              <a:t>Check Data Quality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1078992" y="402336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F5278"/>
                </a:solidFill>
              </a:rPr>
              <a:t>Missing &amp; duplicates</a:t>
            </a:r>
            <a:endParaRPr lang="en-US" sz="1100" dirty="0"/>
          </a:p>
        </p:txBody>
      </p:sp>
      <p:sp>
        <p:nvSpPr>
          <p:cNvPr id="21" name="Phase 2"/>
          <p:cNvSpPr/>
          <p:nvPr/>
        </p:nvSpPr>
        <p:spPr>
          <a:xfrm>
            <a:off x="3291840" y="1005840"/>
            <a:ext cx="2560320" cy="457200"/>
          </a:xfrm>
          <a:prstGeom prst="roundRect">
            <a:avLst>
              <a:gd name="adj" fmla="val 50000"/>
            </a:avLst>
          </a:prstGeom>
          <a:solidFill>
            <a:srgbClr val="2EA995"/>
          </a:solidFill>
          <a:ln w="12700">
            <a:solidFill>
              <a:srgbClr val="2EA995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291840" y="10058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Explore &amp; Split</a:t>
            </a:r>
            <a:endParaRPr lang="en-US" sz="1500" dirty="0"/>
          </a:p>
        </p:txBody>
      </p:sp>
      <p:pic>
        <p:nvPicPr>
          <p:cNvPr id="23" name="Arrow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1304" y="1106424"/>
            <a:ext cx="256032" cy="256032"/>
          </a:xfrm>
          <a:prstGeom prst="rect">
            <a:avLst/>
          </a:prstGeom>
        </p:spPr>
      </p:pic>
      <p:sp>
        <p:nvSpPr>
          <p:cNvPr id="24" name="Step card 4"/>
          <p:cNvSpPr/>
          <p:nvPr/>
        </p:nvSpPr>
        <p:spPr>
          <a:xfrm>
            <a:off x="3291840" y="1783080"/>
            <a:ext cx="2560320" cy="749808"/>
          </a:xfrm>
          <a:prstGeom prst="roundRect">
            <a:avLst>
              <a:gd name="adj" fmla="val 12195"/>
            </a:avLst>
          </a:prstGeom>
          <a:solidFill>
            <a:srgbClr val="FFFFFF">
              <a:alpha val="58000"/>
            </a:srgbClr>
          </a:solidFill>
          <a:ln w="15875">
            <a:solidFill>
              <a:srgbClr val="FFFFFF">
                <a:alpha val="75000"/>
              </a:srgbClr>
            </a:solidFill>
            <a:prstDash val="solid"/>
          </a:ln>
          <a:effectLst>
            <a:outerShdw blurRad="127000" dist="25400" dir="5400000" algn="bl" rotWithShape="0">
              <a:srgbClr val="1E3A6B">
                <a:alpha val="12000"/>
              </a:srgbClr>
            </a:outerShdw>
          </a:effectLst>
        </p:spPr>
      </p:sp>
      <p:sp>
        <p:nvSpPr>
          <p:cNvPr id="25" name="Step badge 4"/>
          <p:cNvSpPr/>
          <p:nvPr/>
        </p:nvSpPr>
        <p:spPr>
          <a:xfrm>
            <a:off x="3429000" y="1975104"/>
            <a:ext cx="365760" cy="365760"/>
          </a:xfrm>
          <a:prstGeom prst="ellipse">
            <a:avLst/>
          </a:prstGeom>
          <a:solidFill>
            <a:srgbClr val="2EA995"/>
          </a:solidFill>
          <a:ln w="12700">
            <a:solidFill>
              <a:srgbClr val="2EA995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3429000" y="1975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7" name="Text 23"/>
          <p:cNvSpPr txBox="1"/>
          <p:nvPr/>
        </p:nvSpPr>
        <p:spPr>
          <a:xfrm>
            <a:off x="3913632" y="189280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6B"/>
                </a:solidFill>
              </a:rPr>
              <a:t>Features &amp; Target</a:t>
            </a:r>
            <a:endParaRPr lang="en-US" sz="1300" dirty="0"/>
          </a:p>
        </p:txBody>
      </p:sp>
      <p:sp>
        <p:nvSpPr>
          <p:cNvPr id="28" name="Text 24"/>
          <p:cNvSpPr txBox="1"/>
          <p:nvPr/>
        </p:nvSpPr>
        <p:spPr>
          <a:xfrm>
            <a:off x="3913632" y="219456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F5278"/>
                </a:solidFill>
              </a:rPr>
              <a:t>6 inputs, y = speed</a:t>
            </a:r>
            <a:endParaRPr lang="en-US" sz="1100" dirty="0"/>
          </a:p>
        </p:txBody>
      </p:sp>
      <p:sp>
        <p:nvSpPr>
          <p:cNvPr id="29" name="Step card 5"/>
          <p:cNvSpPr/>
          <p:nvPr/>
        </p:nvSpPr>
        <p:spPr>
          <a:xfrm>
            <a:off x="3291840" y="2697480"/>
            <a:ext cx="2560320" cy="749808"/>
          </a:xfrm>
          <a:prstGeom prst="roundRect">
            <a:avLst>
              <a:gd name="adj" fmla="val 12195"/>
            </a:avLst>
          </a:prstGeom>
          <a:solidFill>
            <a:srgbClr val="FFFFFF">
              <a:alpha val="58000"/>
            </a:srgbClr>
          </a:solidFill>
          <a:ln w="15875">
            <a:solidFill>
              <a:srgbClr val="FFFFFF">
                <a:alpha val="75000"/>
              </a:srgbClr>
            </a:solidFill>
            <a:prstDash val="solid"/>
          </a:ln>
          <a:effectLst>
            <a:outerShdw blurRad="127000" dist="25400" dir="5400000" algn="bl" rotWithShape="0">
              <a:srgbClr val="1E3A6B">
                <a:alpha val="12000"/>
              </a:srgbClr>
            </a:outerShdw>
          </a:effectLst>
        </p:spPr>
      </p:sp>
      <p:sp>
        <p:nvSpPr>
          <p:cNvPr id="30" name="Step badge 5"/>
          <p:cNvSpPr/>
          <p:nvPr/>
        </p:nvSpPr>
        <p:spPr>
          <a:xfrm>
            <a:off x="3429000" y="2889504"/>
            <a:ext cx="365760" cy="365760"/>
          </a:xfrm>
          <a:prstGeom prst="ellipse">
            <a:avLst/>
          </a:prstGeom>
          <a:solidFill>
            <a:srgbClr val="2EA995"/>
          </a:solidFill>
          <a:ln w="12700">
            <a:solidFill>
              <a:srgbClr val="2EA995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3429000" y="28895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2" name="Text 28"/>
          <p:cNvSpPr txBox="1"/>
          <p:nvPr/>
        </p:nvSpPr>
        <p:spPr>
          <a:xfrm>
            <a:off x="3913632" y="280720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6B"/>
                </a:solidFill>
              </a:rPr>
              <a:t>Visualization</a:t>
            </a:r>
            <a:endParaRPr lang="en-US" sz="1300" dirty="0"/>
          </a:p>
        </p:txBody>
      </p:sp>
      <p:sp>
        <p:nvSpPr>
          <p:cNvPr id="33" name="Text 29"/>
          <p:cNvSpPr txBox="1"/>
          <p:nvPr/>
        </p:nvSpPr>
        <p:spPr>
          <a:xfrm>
            <a:off x="3913632" y="310896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F5278"/>
                </a:solidFill>
              </a:rPr>
              <a:t>Throttle &amp; RPM scatter</a:t>
            </a:r>
            <a:endParaRPr lang="en-US" sz="1100" dirty="0"/>
          </a:p>
        </p:txBody>
      </p:sp>
      <p:sp>
        <p:nvSpPr>
          <p:cNvPr id="34" name="Step card 6"/>
          <p:cNvSpPr/>
          <p:nvPr/>
        </p:nvSpPr>
        <p:spPr>
          <a:xfrm>
            <a:off x="3291840" y="3611880"/>
            <a:ext cx="2560320" cy="749808"/>
          </a:xfrm>
          <a:prstGeom prst="roundRect">
            <a:avLst>
              <a:gd name="adj" fmla="val 12195"/>
            </a:avLst>
          </a:prstGeom>
          <a:solidFill>
            <a:srgbClr val="FFFFFF">
              <a:alpha val="58000"/>
            </a:srgbClr>
          </a:solidFill>
          <a:ln w="15875">
            <a:solidFill>
              <a:srgbClr val="FFFFFF">
                <a:alpha val="75000"/>
              </a:srgbClr>
            </a:solidFill>
            <a:prstDash val="solid"/>
          </a:ln>
          <a:effectLst>
            <a:outerShdw blurRad="127000" dist="25400" dir="5400000" algn="bl" rotWithShape="0">
              <a:srgbClr val="1E3A6B">
                <a:alpha val="12000"/>
              </a:srgbClr>
            </a:outerShdw>
          </a:effectLst>
        </p:spPr>
      </p:sp>
      <p:sp>
        <p:nvSpPr>
          <p:cNvPr id="35" name="Step badge 6"/>
          <p:cNvSpPr/>
          <p:nvPr/>
        </p:nvSpPr>
        <p:spPr>
          <a:xfrm>
            <a:off x="3429000" y="3803904"/>
            <a:ext cx="365760" cy="365760"/>
          </a:xfrm>
          <a:prstGeom prst="ellipse">
            <a:avLst/>
          </a:prstGeom>
          <a:solidFill>
            <a:srgbClr val="2EA995"/>
          </a:solidFill>
          <a:ln w="12700">
            <a:solidFill>
              <a:srgbClr val="2EA995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3429000" y="38039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7" name="Text 33"/>
          <p:cNvSpPr txBox="1"/>
          <p:nvPr/>
        </p:nvSpPr>
        <p:spPr>
          <a:xfrm>
            <a:off x="3913632" y="372160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6B"/>
                </a:solidFill>
              </a:rPr>
              <a:t>Train–Test Split &amp; Model</a:t>
            </a:r>
            <a:endParaRPr lang="en-US" sz="1300" dirty="0"/>
          </a:p>
        </p:txBody>
      </p:sp>
      <p:sp>
        <p:nvSpPr>
          <p:cNvPr id="38" name="Text 34"/>
          <p:cNvSpPr txBox="1"/>
          <p:nvPr/>
        </p:nvSpPr>
        <p:spPr>
          <a:xfrm>
            <a:off x="3913632" y="402336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F5278"/>
                </a:solidFill>
              </a:rPr>
              <a:t>80% train, 20% test</a:t>
            </a:r>
            <a:endParaRPr lang="en-US" sz="1100" dirty="0"/>
          </a:p>
        </p:txBody>
      </p:sp>
      <p:sp>
        <p:nvSpPr>
          <p:cNvPr id="39" name="Phase 3"/>
          <p:cNvSpPr/>
          <p:nvPr/>
        </p:nvSpPr>
        <p:spPr>
          <a:xfrm>
            <a:off x="6126480" y="1005840"/>
            <a:ext cx="2560320" cy="457200"/>
          </a:xfrm>
          <a:prstGeom prst="roundRect">
            <a:avLst>
              <a:gd name="adj" fmla="val 50000"/>
            </a:avLst>
          </a:prstGeom>
          <a:solidFill>
            <a:srgbClr val="7B6BD6"/>
          </a:solidFill>
          <a:ln w="12700">
            <a:solidFill>
              <a:srgbClr val="7B6BD6"/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6126480" y="10058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Model &amp; Predict</a:t>
            </a:r>
            <a:endParaRPr lang="en-US" sz="1500" dirty="0"/>
          </a:p>
        </p:txBody>
      </p:sp>
      <p:sp>
        <p:nvSpPr>
          <p:cNvPr id="41" name="Step card 7"/>
          <p:cNvSpPr/>
          <p:nvPr/>
        </p:nvSpPr>
        <p:spPr>
          <a:xfrm>
            <a:off x="6126480" y="1783080"/>
            <a:ext cx="2560320" cy="749808"/>
          </a:xfrm>
          <a:prstGeom prst="roundRect">
            <a:avLst>
              <a:gd name="adj" fmla="val 12195"/>
            </a:avLst>
          </a:prstGeom>
          <a:solidFill>
            <a:srgbClr val="FFFFFF">
              <a:alpha val="58000"/>
            </a:srgbClr>
          </a:solidFill>
          <a:ln w="15875">
            <a:solidFill>
              <a:srgbClr val="FFFFFF">
                <a:alpha val="75000"/>
              </a:srgbClr>
            </a:solidFill>
            <a:prstDash val="solid"/>
          </a:ln>
          <a:effectLst>
            <a:outerShdw blurRad="127000" dist="25400" dir="5400000" algn="bl" rotWithShape="0">
              <a:srgbClr val="1E3A6B">
                <a:alpha val="12000"/>
              </a:srgbClr>
            </a:outerShdw>
          </a:effectLst>
        </p:spPr>
      </p:sp>
      <p:sp>
        <p:nvSpPr>
          <p:cNvPr id="42" name="Step badge 7"/>
          <p:cNvSpPr/>
          <p:nvPr/>
        </p:nvSpPr>
        <p:spPr>
          <a:xfrm>
            <a:off x="6263640" y="1975104"/>
            <a:ext cx="365760" cy="365760"/>
          </a:xfrm>
          <a:prstGeom prst="ellipse">
            <a:avLst/>
          </a:prstGeom>
          <a:solidFill>
            <a:srgbClr val="7B6BD6"/>
          </a:solidFill>
          <a:ln w="12700">
            <a:solidFill>
              <a:srgbClr val="7B6BD6"/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6263640" y="1975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7</a:t>
            </a:r>
            <a:endParaRPr lang="en-US" sz="1400" dirty="0"/>
          </a:p>
        </p:txBody>
      </p:sp>
      <p:sp>
        <p:nvSpPr>
          <p:cNvPr id="44" name="Text 40"/>
          <p:cNvSpPr txBox="1"/>
          <p:nvPr/>
        </p:nvSpPr>
        <p:spPr>
          <a:xfrm>
            <a:off x="6748272" y="189280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6B"/>
                </a:solidFill>
              </a:rPr>
              <a:t>Model Performance</a:t>
            </a:r>
            <a:endParaRPr lang="en-US" sz="1300" dirty="0"/>
          </a:p>
        </p:txBody>
      </p:sp>
      <p:sp>
        <p:nvSpPr>
          <p:cNvPr id="45" name="Text 41"/>
          <p:cNvSpPr txBox="1"/>
          <p:nvPr/>
        </p:nvSpPr>
        <p:spPr>
          <a:xfrm>
            <a:off x="6748272" y="219456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F5278"/>
                </a:solidFill>
              </a:rPr>
              <a:t>MAE, MSE, RMSE, R²</a:t>
            </a:r>
            <a:endParaRPr lang="en-US" sz="1100" dirty="0"/>
          </a:p>
        </p:txBody>
      </p:sp>
      <p:sp>
        <p:nvSpPr>
          <p:cNvPr id="46" name="Step card 8"/>
          <p:cNvSpPr/>
          <p:nvPr/>
        </p:nvSpPr>
        <p:spPr>
          <a:xfrm>
            <a:off x="6126480" y="2697480"/>
            <a:ext cx="2560320" cy="749808"/>
          </a:xfrm>
          <a:prstGeom prst="roundRect">
            <a:avLst>
              <a:gd name="adj" fmla="val 12195"/>
            </a:avLst>
          </a:prstGeom>
          <a:solidFill>
            <a:srgbClr val="FFFFFF">
              <a:alpha val="58000"/>
            </a:srgbClr>
          </a:solidFill>
          <a:ln w="15875">
            <a:solidFill>
              <a:srgbClr val="FFFFFF">
                <a:alpha val="75000"/>
              </a:srgbClr>
            </a:solidFill>
            <a:prstDash val="solid"/>
          </a:ln>
          <a:effectLst>
            <a:outerShdw blurRad="127000" dist="25400" dir="5400000" algn="bl" rotWithShape="0">
              <a:srgbClr val="1E3A6B">
                <a:alpha val="12000"/>
              </a:srgbClr>
            </a:outerShdw>
          </a:effectLst>
        </p:spPr>
      </p:sp>
      <p:sp>
        <p:nvSpPr>
          <p:cNvPr id="47" name="Step badge 8"/>
          <p:cNvSpPr/>
          <p:nvPr/>
        </p:nvSpPr>
        <p:spPr>
          <a:xfrm>
            <a:off x="6263640" y="2889504"/>
            <a:ext cx="365760" cy="365760"/>
          </a:xfrm>
          <a:prstGeom prst="ellipse">
            <a:avLst/>
          </a:prstGeom>
          <a:solidFill>
            <a:srgbClr val="7B6BD6"/>
          </a:solidFill>
          <a:ln w="12700">
            <a:solidFill>
              <a:srgbClr val="7B6BD6"/>
            </a:solidFill>
            <a:prstDash val="solid"/>
          </a:ln>
        </p:spPr>
      </p:sp>
      <p:sp>
        <p:nvSpPr>
          <p:cNvPr id="48" name="Text 44"/>
          <p:cNvSpPr txBox="1"/>
          <p:nvPr/>
        </p:nvSpPr>
        <p:spPr>
          <a:xfrm>
            <a:off x="6263640" y="28895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8</a:t>
            </a:r>
            <a:endParaRPr lang="en-US" sz="1400" dirty="0"/>
          </a:p>
        </p:txBody>
      </p:sp>
      <p:sp>
        <p:nvSpPr>
          <p:cNvPr id="49" name="Text 45"/>
          <p:cNvSpPr txBox="1"/>
          <p:nvPr/>
        </p:nvSpPr>
        <p:spPr>
          <a:xfrm>
            <a:off x="6748272" y="280720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6B"/>
                </a:solidFill>
              </a:rPr>
              <a:t>Example Prediction</a:t>
            </a:r>
            <a:endParaRPr lang="en-US" sz="1300" dirty="0"/>
          </a:p>
        </p:txBody>
      </p:sp>
      <p:sp>
        <p:nvSpPr>
          <p:cNvPr id="50" name="Text 46"/>
          <p:cNvSpPr txBox="1"/>
          <p:nvPr/>
        </p:nvSpPr>
        <p:spPr>
          <a:xfrm>
            <a:off x="6748272" y="310896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F5278"/>
                </a:solidFill>
              </a:rPr>
              <a:t>46.51 km/h on new input</a:t>
            </a:r>
            <a:endParaRPr lang="en-US" sz="1100" dirty="0"/>
          </a:p>
        </p:txBody>
      </p:sp>
      <p:sp>
        <p:nvSpPr>
          <p:cNvPr id="5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6587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pPr algn="r"/>
              <a:t>2</a:t>
            </a:fld>
            <a:endParaRPr lang="en-US"/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/>
          </p:nvPr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1. Import Libraries &amp; Upload File</a:t>
            </a:r>
            <a:endParaRPr lang="en-US" sz="2800" dirty="0"/>
          </a:p>
        </p:txBody>
      </p:sp>
      <p:sp>
        <p:nvSpPr>
          <p:cNvPr id="3" name="Lib card 1"/>
          <p:cNvSpPr/>
          <p:nvPr/>
        </p:nvSpPr>
        <p:spPr>
          <a:xfrm>
            <a:off x="457200" y="1005840"/>
            <a:ext cx="1920240" cy="1280160"/>
          </a:xfrm>
          <a:prstGeom prst="roundRect">
            <a:avLst>
              <a:gd name="adj" fmla="val 7143"/>
            </a:avLst>
          </a:prstGeom>
          <a:solidFill>
            <a:srgbClr val="FFFFFF">
              <a:alpha val="58000"/>
            </a:srgbClr>
          </a:solidFill>
          <a:ln w="15875">
            <a:solidFill>
              <a:srgbClr val="FFFFFF">
                <a:alpha val="75000"/>
              </a:srgbClr>
            </a:solidFill>
            <a:prstDash val="solid"/>
          </a:ln>
          <a:effectLst>
            <a:outerShdw blurRad="127000" dist="25400" dir="5400000" algn="bl" rotWithShape="0">
              <a:srgbClr val="1E3A6B">
                <a:alpha val="12000"/>
              </a:srgbClr>
            </a:outerShdw>
          </a:effectLst>
        </p:spPr>
      </p:sp>
      <p:sp>
        <p:nvSpPr>
          <p:cNvPr id="4" name="Icon circle"/>
          <p:cNvSpPr/>
          <p:nvPr/>
        </p:nvSpPr>
        <p:spPr>
          <a:xfrm>
            <a:off x="640080" y="1161288"/>
            <a:ext cx="457200" cy="457200"/>
          </a:xfrm>
          <a:prstGeom prst="ellipse">
            <a:avLst/>
          </a:prstGeom>
          <a:solidFill>
            <a:srgbClr val="FFFFFF">
              <a:alpha val="85000"/>
            </a:srgbClr>
          </a:solidFill>
          <a:ln w="19050">
            <a:solidFill>
              <a:srgbClr val="2762A8"/>
            </a:solidFill>
            <a:prstDash val="solid"/>
          </a:ln>
        </p:spPr>
      </p:sp>
      <p:pic>
        <p:nvPicPr>
          <p:cNvPr id="5" name="Icon FaTable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271016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94360" y="169164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3A6B"/>
                </a:solidFill>
              </a:rPr>
              <a:t>Pandas (pd)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194767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F5278"/>
                </a:solidFill>
              </a:rPr>
              <a:t>Load &amp; manage tabular data</a:t>
            </a:r>
            <a:endParaRPr lang="en-US" sz="1050" dirty="0"/>
          </a:p>
        </p:txBody>
      </p:sp>
      <p:sp>
        <p:nvSpPr>
          <p:cNvPr id="8" name="Lib card 2"/>
          <p:cNvSpPr/>
          <p:nvPr/>
        </p:nvSpPr>
        <p:spPr>
          <a:xfrm>
            <a:off x="2560320" y="1005840"/>
            <a:ext cx="1920240" cy="1280160"/>
          </a:xfrm>
          <a:prstGeom prst="roundRect">
            <a:avLst>
              <a:gd name="adj" fmla="val 7143"/>
            </a:avLst>
          </a:prstGeom>
          <a:solidFill>
            <a:srgbClr val="FFFFFF">
              <a:alpha val="58000"/>
            </a:srgbClr>
          </a:solidFill>
          <a:ln w="15875">
            <a:solidFill>
              <a:srgbClr val="FFFFFF">
                <a:alpha val="75000"/>
              </a:srgbClr>
            </a:solidFill>
            <a:prstDash val="solid"/>
          </a:ln>
          <a:effectLst>
            <a:outerShdw blurRad="127000" dist="25400" dir="5400000" algn="bl" rotWithShape="0">
              <a:srgbClr val="1E3A6B">
                <a:alpha val="12000"/>
              </a:srgbClr>
            </a:outerShdw>
          </a:effectLst>
        </p:spPr>
      </p:sp>
      <p:sp>
        <p:nvSpPr>
          <p:cNvPr id="9" name="Icon circle"/>
          <p:cNvSpPr/>
          <p:nvPr/>
        </p:nvSpPr>
        <p:spPr>
          <a:xfrm>
            <a:off x="2743200" y="1161288"/>
            <a:ext cx="457200" cy="457200"/>
          </a:xfrm>
          <a:prstGeom prst="ellipse">
            <a:avLst/>
          </a:prstGeom>
          <a:solidFill>
            <a:srgbClr val="FFFFFF">
              <a:alpha val="85000"/>
            </a:srgbClr>
          </a:solidFill>
          <a:ln w="19050">
            <a:solidFill>
              <a:srgbClr val="2EA995"/>
            </a:solidFill>
            <a:prstDash val="solid"/>
          </a:ln>
        </p:spPr>
      </p:sp>
      <p:pic>
        <p:nvPicPr>
          <p:cNvPr id="10" name="Icon FaCalculator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2928" y="1271016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697480" y="169164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3A6B"/>
                </a:solidFill>
              </a:rPr>
              <a:t>NumPy (np)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2697480" y="194767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F5278"/>
                </a:solidFill>
              </a:rPr>
              <a:t>Numerical calculations</a:t>
            </a:r>
            <a:endParaRPr lang="en-US" sz="1050" dirty="0"/>
          </a:p>
        </p:txBody>
      </p:sp>
      <p:sp>
        <p:nvSpPr>
          <p:cNvPr id="13" name="Lib card 3"/>
          <p:cNvSpPr/>
          <p:nvPr/>
        </p:nvSpPr>
        <p:spPr>
          <a:xfrm>
            <a:off x="4663440" y="1005840"/>
            <a:ext cx="1920240" cy="1280160"/>
          </a:xfrm>
          <a:prstGeom prst="roundRect">
            <a:avLst>
              <a:gd name="adj" fmla="val 7143"/>
            </a:avLst>
          </a:prstGeom>
          <a:solidFill>
            <a:srgbClr val="FFFFFF">
              <a:alpha val="58000"/>
            </a:srgbClr>
          </a:solidFill>
          <a:ln w="15875">
            <a:solidFill>
              <a:srgbClr val="FFFFFF">
                <a:alpha val="75000"/>
              </a:srgbClr>
            </a:solidFill>
            <a:prstDash val="solid"/>
          </a:ln>
          <a:effectLst>
            <a:outerShdw blurRad="127000" dist="25400" dir="5400000" algn="bl" rotWithShape="0">
              <a:srgbClr val="1E3A6B">
                <a:alpha val="12000"/>
              </a:srgbClr>
            </a:outerShdw>
          </a:effectLst>
        </p:spPr>
      </p:sp>
      <p:sp>
        <p:nvSpPr>
          <p:cNvPr id="14" name="Icon circle"/>
          <p:cNvSpPr/>
          <p:nvPr/>
        </p:nvSpPr>
        <p:spPr>
          <a:xfrm>
            <a:off x="4846320" y="1161288"/>
            <a:ext cx="457200" cy="457200"/>
          </a:xfrm>
          <a:prstGeom prst="ellipse">
            <a:avLst/>
          </a:prstGeom>
          <a:solidFill>
            <a:srgbClr val="FFFFFF">
              <a:alpha val="85000"/>
            </a:srgbClr>
          </a:solidFill>
          <a:ln w="19050">
            <a:solidFill>
              <a:srgbClr val="E76F51"/>
            </a:solidFill>
            <a:prstDash val="solid"/>
          </a:ln>
        </p:spPr>
      </p:sp>
      <p:pic>
        <p:nvPicPr>
          <p:cNvPr id="15" name="Icon FaChartBar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6048" y="1271016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800600" y="169164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3A6B"/>
                </a:solidFill>
              </a:rPr>
              <a:t>Matplotlib (plt)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4800600" y="194767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F5278"/>
                </a:solidFill>
              </a:rPr>
              <a:t>Create the graphs</a:t>
            </a:r>
            <a:endParaRPr lang="en-US" sz="1050" dirty="0"/>
          </a:p>
        </p:txBody>
      </p:sp>
      <p:sp>
        <p:nvSpPr>
          <p:cNvPr id="18" name="Lib card 4"/>
          <p:cNvSpPr/>
          <p:nvPr/>
        </p:nvSpPr>
        <p:spPr>
          <a:xfrm>
            <a:off x="6766560" y="1005840"/>
            <a:ext cx="1920240" cy="1280160"/>
          </a:xfrm>
          <a:prstGeom prst="roundRect">
            <a:avLst>
              <a:gd name="adj" fmla="val 7143"/>
            </a:avLst>
          </a:prstGeom>
          <a:solidFill>
            <a:srgbClr val="FFFFFF">
              <a:alpha val="58000"/>
            </a:srgbClr>
          </a:solidFill>
          <a:ln w="15875">
            <a:solidFill>
              <a:srgbClr val="FFFFFF">
                <a:alpha val="75000"/>
              </a:srgbClr>
            </a:solidFill>
            <a:prstDash val="solid"/>
          </a:ln>
          <a:effectLst>
            <a:outerShdw blurRad="127000" dist="25400" dir="5400000" algn="bl" rotWithShape="0">
              <a:srgbClr val="1E3A6B">
                <a:alpha val="12000"/>
              </a:srgbClr>
            </a:outerShdw>
          </a:effectLst>
        </p:spPr>
      </p:sp>
      <p:sp>
        <p:nvSpPr>
          <p:cNvPr id="19" name="Icon circle"/>
          <p:cNvSpPr/>
          <p:nvPr/>
        </p:nvSpPr>
        <p:spPr>
          <a:xfrm>
            <a:off x="6949440" y="1161288"/>
            <a:ext cx="457200" cy="457200"/>
          </a:xfrm>
          <a:prstGeom prst="ellipse">
            <a:avLst/>
          </a:prstGeom>
          <a:solidFill>
            <a:srgbClr val="FFFFFF">
              <a:alpha val="85000"/>
            </a:srgbClr>
          </a:solidFill>
          <a:ln w="19050">
            <a:solidFill>
              <a:srgbClr val="7B6BD6"/>
            </a:solidFill>
            <a:prstDash val="solid"/>
          </a:ln>
        </p:spPr>
      </p:sp>
      <p:pic>
        <p:nvPicPr>
          <p:cNvPr id="20" name="Icon FaSave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59168" y="1271016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903720" y="169164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3A6B"/>
                </a:solidFill>
              </a:rPr>
              <a:t>Joblib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6903720" y="194767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F5278"/>
                </a:solidFill>
              </a:rPr>
              <a:t>Save model as .pkl</a:t>
            </a:r>
            <a:endParaRPr lang="en-US" sz="1050" dirty="0"/>
          </a:p>
        </p:txBody>
      </p:sp>
      <p:sp>
        <p:nvSpPr>
          <p:cNvPr id="23" name="Lib card 5"/>
          <p:cNvSpPr/>
          <p:nvPr/>
        </p:nvSpPr>
        <p:spPr>
          <a:xfrm>
            <a:off x="457200" y="2423160"/>
            <a:ext cx="1920240" cy="1280160"/>
          </a:xfrm>
          <a:prstGeom prst="roundRect">
            <a:avLst>
              <a:gd name="adj" fmla="val 7143"/>
            </a:avLst>
          </a:prstGeom>
          <a:solidFill>
            <a:srgbClr val="FFFFFF">
              <a:alpha val="58000"/>
            </a:srgbClr>
          </a:solidFill>
          <a:ln w="15875">
            <a:solidFill>
              <a:srgbClr val="FFFFFF">
                <a:alpha val="75000"/>
              </a:srgbClr>
            </a:solidFill>
            <a:prstDash val="solid"/>
          </a:ln>
          <a:effectLst>
            <a:outerShdw blurRad="127000" dist="25400" dir="5400000" algn="bl" rotWithShape="0">
              <a:srgbClr val="1E3A6B">
                <a:alpha val="12000"/>
              </a:srgbClr>
            </a:outerShdw>
          </a:effectLst>
        </p:spPr>
      </p:sp>
      <p:sp>
        <p:nvSpPr>
          <p:cNvPr id="24" name="Icon circle"/>
          <p:cNvSpPr/>
          <p:nvPr/>
        </p:nvSpPr>
        <p:spPr>
          <a:xfrm>
            <a:off x="640080" y="2578608"/>
            <a:ext cx="457200" cy="457200"/>
          </a:xfrm>
          <a:prstGeom prst="ellipse">
            <a:avLst/>
          </a:prstGeom>
          <a:solidFill>
            <a:srgbClr val="FFFFFF">
              <a:alpha val="85000"/>
            </a:srgbClr>
          </a:solidFill>
          <a:ln w="19050">
            <a:solidFill>
              <a:srgbClr val="2762A8"/>
            </a:solidFill>
            <a:prstDash val="solid"/>
          </a:ln>
        </p:spPr>
      </p:sp>
      <p:pic>
        <p:nvPicPr>
          <p:cNvPr id="25" name="Icon FaCut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808" y="2688336"/>
            <a:ext cx="237744" cy="23774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94360" y="310896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3A6B"/>
                </a:solidFill>
              </a:rPr>
              <a:t>train_test_split</a:t>
            </a:r>
            <a:endParaRPr lang="en-US" sz="1300" dirty="0"/>
          </a:p>
        </p:txBody>
      </p:sp>
      <p:sp>
        <p:nvSpPr>
          <p:cNvPr id="27" name="Text 20"/>
          <p:cNvSpPr txBox="1"/>
          <p:nvPr/>
        </p:nvSpPr>
        <p:spPr>
          <a:xfrm>
            <a:off x="594360" y="336499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F5278"/>
                </a:solidFill>
              </a:rPr>
              <a:t>Split data into train &amp; test</a:t>
            </a:r>
            <a:endParaRPr lang="en-US" sz="1050" dirty="0"/>
          </a:p>
        </p:txBody>
      </p:sp>
      <p:sp>
        <p:nvSpPr>
          <p:cNvPr id="28" name="Lib card 6"/>
          <p:cNvSpPr/>
          <p:nvPr/>
        </p:nvSpPr>
        <p:spPr>
          <a:xfrm>
            <a:off x="2560320" y="2423160"/>
            <a:ext cx="1920240" cy="1280160"/>
          </a:xfrm>
          <a:prstGeom prst="roundRect">
            <a:avLst>
              <a:gd name="adj" fmla="val 7143"/>
            </a:avLst>
          </a:prstGeom>
          <a:solidFill>
            <a:srgbClr val="FFFFFF">
              <a:alpha val="58000"/>
            </a:srgbClr>
          </a:solidFill>
          <a:ln w="15875">
            <a:solidFill>
              <a:srgbClr val="FFFFFF">
                <a:alpha val="75000"/>
              </a:srgbClr>
            </a:solidFill>
            <a:prstDash val="solid"/>
          </a:ln>
          <a:effectLst>
            <a:outerShdw blurRad="127000" dist="25400" dir="5400000" algn="bl" rotWithShape="0">
              <a:srgbClr val="1E3A6B">
                <a:alpha val="12000"/>
              </a:srgbClr>
            </a:outerShdw>
          </a:effectLst>
        </p:spPr>
      </p:sp>
      <p:sp>
        <p:nvSpPr>
          <p:cNvPr id="29" name="Icon circle"/>
          <p:cNvSpPr/>
          <p:nvPr/>
        </p:nvSpPr>
        <p:spPr>
          <a:xfrm>
            <a:off x="2743200" y="2578608"/>
            <a:ext cx="457200" cy="457200"/>
          </a:xfrm>
          <a:prstGeom prst="ellipse">
            <a:avLst/>
          </a:prstGeom>
          <a:solidFill>
            <a:srgbClr val="FFFFFF">
              <a:alpha val="85000"/>
            </a:srgbClr>
          </a:solidFill>
          <a:ln w="19050">
            <a:solidFill>
              <a:srgbClr val="2EA995"/>
            </a:solidFill>
            <a:prstDash val="solid"/>
          </a:ln>
        </p:spPr>
      </p:sp>
      <p:pic>
        <p:nvPicPr>
          <p:cNvPr id="30" name="Icon FaCogs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52928" y="2688336"/>
            <a:ext cx="237744" cy="237744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2697480" y="310896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3A6B"/>
                </a:solidFill>
              </a:rPr>
              <a:t>LinearRegression</a:t>
            </a:r>
            <a:endParaRPr lang="en-US" sz="1300" dirty="0"/>
          </a:p>
        </p:txBody>
      </p:sp>
      <p:sp>
        <p:nvSpPr>
          <p:cNvPr id="32" name="Text 24"/>
          <p:cNvSpPr txBox="1"/>
          <p:nvPr/>
        </p:nvSpPr>
        <p:spPr>
          <a:xfrm>
            <a:off x="2697480" y="336499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F5278"/>
                </a:solidFill>
              </a:rPr>
              <a:t>Build the regression model</a:t>
            </a:r>
            <a:endParaRPr lang="en-US" sz="1050" dirty="0"/>
          </a:p>
        </p:txBody>
      </p:sp>
      <p:sp>
        <p:nvSpPr>
          <p:cNvPr id="33" name="Lib card 7"/>
          <p:cNvSpPr/>
          <p:nvPr/>
        </p:nvSpPr>
        <p:spPr>
          <a:xfrm>
            <a:off x="4663440" y="2423160"/>
            <a:ext cx="1920240" cy="1280160"/>
          </a:xfrm>
          <a:prstGeom prst="roundRect">
            <a:avLst>
              <a:gd name="adj" fmla="val 7143"/>
            </a:avLst>
          </a:prstGeom>
          <a:solidFill>
            <a:srgbClr val="FFFFFF">
              <a:alpha val="58000"/>
            </a:srgbClr>
          </a:solidFill>
          <a:ln w="15875">
            <a:solidFill>
              <a:srgbClr val="FFFFFF">
                <a:alpha val="75000"/>
              </a:srgbClr>
            </a:solidFill>
            <a:prstDash val="solid"/>
          </a:ln>
          <a:effectLst>
            <a:outerShdw blurRad="127000" dist="25400" dir="5400000" algn="bl" rotWithShape="0">
              <a:srgbClr val="1E3A6B">
                <a:alpha val="12000"/>
              </a:srgbClr>
            </a:outerShdw>
          </a:effectLst>
        </p:spPr>
      </p:sp>
      <p:sp>
        <p:nvSpPr>
          <p:cNvPr id="34" name="Icon circle"/>
          <p:cNvSpPr/>
          <p:nvPr/>
        </p:nvSpPr>
        <p:spPr>
          <a:xfrm>
            <a:off x="4846320" y="2578608"/>
            <a:ext cx="457200" cy="457200"/>
          </a:xfrm>
          <a:prstGeom prst="ellipse">
            <a:avLst/>
          </a:prstGeom>
          <a:solidFill>
            <a:srgbClr val="FFFFFF">
              <a:alpha val="85000"/>
            </a:srgbClr>
          </a:solidFill>
          <a:ln w="19050">
            <a:solidFill>
              <a:srgbClr val="E76F51"/>
            </a:solidFill>
            <a:prstDash val="solid"/>
          </a:ln>
        </p:spPr>
      </p:sp>
      <p:pic>
        <p:nvPicPr>
          <p:cNvPr id="35" name="Icon FaRuler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56048" y="2688336"/>
            <a:ext cx="237744" cy="237744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4800600" y="310896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3A6B"/>
                </a:solidFill>
              </a:rPr>
              <a:t>sklearn.metrics</a:t>
            </a:r>
            <a:endParaRPr lang="en-US" sz="1300" dirty="0"/>
          </a:p>
        </p:txBody>
      </p:sp>
      <p:sp>
        <p:nvSpPr>
          <p:cNvPr id="37" name="Text 28"/>
          <p:cNvSpPr txBox="1"/>
          <p:nvPr/>
        </p:nvSpPr>
        <p:spPr>
          <a:xfrm>
            <a:off x="4800600" y="336499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F5278"/>
                </a:solidFill>
              </a:rPr>
              <a:t>Calculate MAE, MSE, RMSE, R²</a:t>
            </a:r>
            <a:endParaRPr lang="en-US" sz="1050" dirty="0"/>
          </a:p>
        </p:txBody>
      </p:sp>
      <p:sp>
        <p:nvSpPr>
          <p:cNvPr id="38" name="Lib card 8"/>
          <p:cNvSpPr/>
          <p:nvPr/>
        </p:nvSpPr>
        <p:spPr>
          <a:xfrm>
            <a:off x="6766560" y="2423160"/>
            <a:ext cx="1920240" cy="1280160"/>
          </a:xfrm>
          <a:prstGeom prst="roundRect">
            <a:avLst>
              <a:gd name="adj" fmla="val 7143"/>
            </a:avLst>
          </a:prstGeom>
          <a:solidFill>
            <a:srgbClr val="FFFFFF">
              <a:alpha val="58000"/>
            </a:srgbClr>
          </a:solidFill>
          <a:ln w="15875">
            <a:solidFill>
              <a:srgbClr val="FFFFFF">
                <a:alpha val="75000"/>
              </a:srgbClr>
            </a:solidFill>
            <a:prstDash val="solid"/>
          </a:ln>
          <a:effectLst>
            <a:outerShdw blurRad="127000" dist="25400" dir="5400000" algn="bl" rotWithShape="0">
              <a:srgbClr val="1E3A6B">
                <a:alpha val="12000"/>
              </a:srgbClr>
            </a:outerShdw>
          </a:effectLst>
        </p:spPr>
      </p:sp>
      <p:sp>
        <p:nvSpPr>
          <p:cNvPr id="39" name="Icon circle"/>
          <p:cNvSpPr/>
          <p:nvPr/>
        </p:nvSpPr>
        <p:spPr>
          <a:xfrm>
            <a:off x="6949440" y="2578608"/>
            <a:ext cx="457200" cy="457200"/>
          </a:xfrm>
          <a:prstGeom prst="ellipse">
            <a:avLst/>
          </a:prstGeom>
          <a:solidFill>
            <a:srgbClr val="FFFFFF">
              <a:alpha val="85000"/>
            </a:srgbClr>
          </a:solidFill>
          <a:ln w="19050">
            <a:solidFill>
              <a:srgbClr val="7B6BD6"/>
            </a:solidFill>
            <a:prstDash val="solid"/>
          </a:ln>
        </p:spPr>
      </p:sp>
      <p:pic>
        <p:nvPicPr>
          <p:cNvPr id="40" name="Icon FaCloud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59168" y="2688336"/>
            <a:ext cx="237744" cy="237744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6903720" y="310896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3A6B"/>
                </a:solidFill>
              </a:rPr>
              <a:t>Google Colab</a:t>
            </a:r>
            <a:endParaRPr lang="en-US" sz="1300" dirty="0"/>
          </a:p>
        </p:txBody>
      </p:sp>
      <p:sp>
        <p:nvSpPr>
          <p:cNvPr id="42" name="Text 32"/>
          <p:cNvSpPr txBox="1"/>
          <p:nvPr/>
        </p:nvSpPr>
        <p:spPr>
          <a:xfrm>
            <a:off x="6903720" y="336499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F5278"/>
                </a:solidFill>
              </a:rPr>
              <a:t>Notebook to run everything</a:t>
            </a:r>
            <a:endParaRPr lang="en-US" sz="1050" dirty="0"/>
          </a:p>
        </p:txBody>
      </p:sp>
      <p:sp>
        <p:nvSpPr>
          <p:cNvPr id="43" name="Code strip"/>
          <p:cNvSpPr/>
          <p:nvPr/>
        </p:nvSpPr>
        <p:spPr>
          <a:xfrm>
            <a:off x="457200" y="3931920"/>
            <a:ext cx="8229600" cy="685800"/>
          </a:xfrm>
          <a:prstGeom prst="roundRect">
            <a:avLst>
              <a:gd name="adj" fmla="val 1066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4" name="Text 34"/>
          <p:cNvSpPr txBox="1"/>
          <p:nvPr/>
        </p:nvSpPr>
        <p:spPr>
          <a:xfrm>
            <a:off x="685800" y="393192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 | import numpy as np | import matplotlib.pyplot as plt | import joblib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sklearn... import train_test_split, LinearRegression, metrics</a:t>
            </a:r>
            <a:endParaRPr lang="en-US" sz="1100" dirty="0"/>
          </a:p>
        </p:txBody>
      </p:sp>
      <p:sp>
        <p:nvSpPr>
          <p:cNvPr id="4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6587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pPr algn="r"/>
              <a:t>3</a:t>
            </a:fld>
            <a:endParaRPr lang="en-US"/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/>
          </p:nvPr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2. Inspect the Dataset</a:t>
            </a:r>
            <a:endParaRPr lang="en-US" sz="2800" dirty="0"/>
          </a:p>
        </p:txBody>
      </p:sp>
      <p:sp>
        <p:nvSpPr>
          <p:cNvPr id="3" name="Inspect card 1"/>
          <p:cNvSpPr/>
          <p:nvPr/>
        </p:nvSpPr>
        <p:spPr>
          <a:xfrm>
            <a:off x="457200" y="1005840"/>
            <a:ext cx="1554480" cy="2331720"/>
          </a:xfrm>
          <a:prstGeom prst="roundRect">
            <a:avLst>
              <a:gd name="adj" fmla="val 5882"/>
            </a:avLst>
          </a:prstGeom>
          <a:solidFill>
            <a:srgbClr val="FFFFFF">
              <a:alpha val="58000"/>
            </a:srgbClr>
          </a:solidFill>
          <a:ln w="15875">
            <a:solidFill>
              <a:srgbClr val="FFFFFF">
                <a:alpha val="75000"/>
              </a:srgbClr>
            </a:solidFill>
            <a:prstDash val="solid"/>
          </a:ln>
          <a:effectLst>
            <a:outerShdw blurRad="127000" dist="25400" dir="5400000" algn="bl" rotWithShape="0">
              <a:srgbClr val="1E3A6B">
                <a:alpha val="12000"/>
              </a:srgbClr>
            </a:outerShdw>
          </a:effectLst>
        </p:spPr>
      </p:sp>
      <p:sp>
        <p:nvSpPr>
          <p:cNvPr id="4" name="Badge 1"/>
          <p:cNvSpPr/>
          <p:nvPr/>
        </p:nvSpPr>
        <p:spPr>
          <a:xfrm>
            <a:off x="548640" y="1097280"/>
            <a:ext cx="256032" cy="256032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0972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6" name="Icon circle"/>
          <p:cNvSpPr/>
          <p:nvPr/>
        </p:nvSpPr>
        <p:spPr>
          <a:xfrm>
            <a:off x="950976" y="1545336"/>
            <a:ext cx="566928" cy="566928"/>
          </a:xfrm>
          <a:prstGeom prst="ellipse">
            <a:avLst/>
          </a:prstGeom>
          <a:solidFill>
            <a:srgbClr val="FFFFFF">
              <a:alpha val="85000"/>
            </a:srgbClr>
          </a:solidFill>
          <a:ln w="19050">
            <a:solidFill>
              <a:srgbClr val="2762A8"/>
            </a:solidFill>
            <a:prstDash val="solid"/>
          </a:ln>
        </p:spPr>
      </p:sp>
      <p:pic>
        <p:nvPicPr>
          <p:cNvPr id="7" name="Icon FaEye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039" y="1681399"/>
            <a:ext cx="294803" cy="29480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2286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.head()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66928" y="2606040"/>
            <a:ext cx="1335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F5278"/>
                </a:solidFill>
              </a:rPr>
              <a:t>First 5 rows: quick look at the data</a:t>
            </a:r>
            <a:endParaRPr lang="en-US" sz="1100" dirty="0"/>
          </a:p>
        </p:txBody>
      </p:sp>
      <p:sp>
        <p:nvSpPr>
          <p:cNvPr id="10" name="Inspect card 2"/>
          <p:cNvSpPr/>
          <p:nvPr/>
        </p:nvSpPr>
        <p:spPr>
          <a:xfrm>
            <a:off x="2125980" y="1005840"/>
            <a:ext cx="1554480" cy="2331720"/>
          </a:xfrm>
          <a:prstGeom prst="roundRect">
            <a:avLst>
              <a:gd name="adj" fmla="val 5882"/>
            </a:avLst>
          </a:prstGeom>
          <a:solidFill>
            <a:srgbClr val="FFFFFF">
              <a:alpha val="58000"/>
            </a:srgbClr>
          </a:solidFill>
          <a:ln w="15875">
            <a:solidFill>
              <a:srgbClr val="FFFFFF">
                <a:alpha val="75000"/>
              </a:srgbClr>
            </a:solidFill>
            <a:prstDash val="solid"/>
          </a:ln>
          <a:effectLst>
            <a:outerShdw blurRad="127000" dist="25400" dir="5400000" algn="bl" rotWithShape="0">
              <a:srgbClr val="1E3A6B">
                <a:alpha val="12000"/>
              </a:srgbClr>
            </a:outerShdw>
          </a:effectLst>
        </p:spPr>
      </p:sp>
      <p:sp>
        <p:nvSpPr>
          <p:cNvPr id="11" name="Badge 2"/>
          <p:cNvSpPr/>
          <p:nvPr/>
        </p:nvSpPr>
        <p:spPr>
          <a:xfrm>
            <a:off x="2217420" y="1097280"/>
            <a:ext cx="256032" cy="256032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217420" y="10972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3" name="Icon circle"/>
          <p:cNvSpPr/>
          <p:nvPr/>
        </p:nvSpPr>
        <p:spPr>
          <a:xfrm>
            <a:off x="2619756" y="1545336"/>
            <a:ext cx="566928" cy="566928"/>
          </a:xfrm>
          <a:prstGeom prst="ellipse">
            <a:avLst/>
          </a:prstGeom>
          <a:solidFill>
            <a:srgbClr val="FFFFFF">
              <a:alpha val="85000"/>
            </a:srgbClr>
          </a:solidFill>
          <a:ln w="19050">
            <a:solidFill>
              <a:srgbClr val="2EA995"/>
            </a:solidFill>
            <a:prstDash val="solid"/>
          </a:ln>
        </p:spPr>
      </p:sp>
      <p:pic>
        <p:nvPicPr>
          <p:cNvPr id="14" name="Icon FaTh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5819" y="1681399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217420" y="2286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.shape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2235708" y="2606040"/>
            <a:ext cx="1335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F5278"/>
                </a:solidFill>
              </a:rPr>
              <a:t>20,000 rows × 14 columns</a:t>
            </a:r>
            <a:endParaRPr lang="en-US" sz="1100" dirty="0"/>
          </a:p>
        </p:txBody>
      </p:sp>
      <p:sp>
        <p:nvSpPr>
          <p:cNvPr id="17" name="Inspect card 3"/>
          <p:cNvSpPr/>
          <p:nvPr/>
        </p:nvSpPr>
        <p:spPr>
          <a:xfrm>
            <a:off x="3794760" y="1005840"/>
            <a:ext cx="1554480" cy="2331720"/>
          </a:xfrm>
          <a:prstGeom prst="roundRect">
            <a:avLst>
              <a:gd name="adj" fmla="val 5882"/>
            </a:avLst>
          </a:prstGeom>
          <a:solidFill>
            <a:srgbClr val="FFFFFF">
              <a:alpha val="58000"/>
            </a:srgbClr>
          </a:solidFill>
          <a:ln w="15875">
            <a:solidFill>
              <a:srgbClr val="FFFFFF">
                <a:alpha val="75000"/>
              </a:srgbClr>
            </a:solidFill>
            <a:prstDash val="solid"/>
          </a:ln>
          <a:effectLst>
            <a:outerShdw blurRad="127000" dist="25400" dir="5400000" algn="bl" rotWithShape="0">
              <a:srgbClr val="1E3A6B">
                <a:alpha val="12000"/>
              </a:srgbClr>
            </a:outerShdw>
          </a:effectLst>
        </p:spPr>
      </p:sp>
      <p:sp>
        <p:nvSpPr>
          <p:cNvPr id="18" name="Badge 3"/>
          <p:cNvSpPr/>
          <p:nvPr/>
        </p:nvSpPr>
        <p:spPr>
          <a:xfrm>
            <a:off x="3886200" y="1097280"/>
            <a:ext cx="256032" cy="256032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3886200" y="10972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0" name="Icon circle"/>
          <p:cNvSpPr/>
          <p:nvPr/>
        </p:nvSpPr>
        <p:spPr>
          <a:xfrm>
            <a:off x="4288536" y="1545336"/>
            <a:ext cx="566928" cy="566928"/>
          </a:xfrm>
          <a:prstGeom prst="ellipse">
            <a:avLst/>
          </a:prstGeom>
          <a:solidFill>
            <a:srgbClr val="FFFFFF">
              <a:alpha val="85000"/>
            </a:srgbClr>
          </a:solidFill>
          <a:ln w="19050">
            <a:solidFill>
              <a:srgbClr val="7B6BD6"/>
            </a:solidFill>
            <a:prstDash val="solid"/>
          </a:ln>
        </p:spPr>
      </p:sp>
      <p:pic>
        <p:nvPicPr>
          <p:cNvPr id="21" name="Icon FaColumns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4599" y="1681399"/>
            <a:ext cx="294803" cy="294803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3886200" y="2286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.columns</a:t>
            </a:r>
            <a:endParaRPr lang="en-US" sz="1400" dirty="0"/>
          </a:p>
        </p:txBody>
      </p:sp>
      <p:sp>
        <p:nvSpPr>
          <p:cNvPr id="23" name="Text 18"/>
          <p:cNvSpPr txBox="1"/>
          <p:nvPr/>
        </p:nvSpPr>
        <p:spPr>
          <a:xfrm>
            <a:off x="3904488" y="2606040"/>
            <a:ext cx="1335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F5278"/>
                </a:solidFill>
              </a:rPr>
              <a:t>Names of all the columns</a:t>
            </a:r>
            <a:endParaRPr lang="en-US" sz="1100" dirty="0"/>
          </a:p>
        </p:txBody>
      </p:sp>
      <p:sp>
        <p:nvSpPr>
          <p:cNvPr id="24" name="Inspect card 4"/>
          <p:cNvSpPr/>
          <p:nvPr/>
        </p:nvSpPr>
        <p:spPr>
          <a:xfrm>
            <a:off x="5463540" y="1005840"/>
            <a:ext cx="1554480" cy="2331720"/>
          </a:xfrm>
          <a:prstGeom prst="roundRect">
            <a:avLst>
              <a:gd name="adj" fmla="val 5882"/>
            </a:avLst>
          </a:prstGeom>
          <a:solidFill>
            <a:srgbClr val="FFFFFF">
              <a:alpha val="58000"/>
            </a:srgbClr>
          </a:solidFill>
          <a:ln w="15875">
            <a:solidFill>
              <a:srgbClr val="FFFFFF">
                <a:alpha val="75000"/>
              </a:srgbClr>
            </a:solidFill>
            <a:prstDash val="solid"/>
          </a:ln>
          <a:effectLst>
            <a:outerShdw blurRad="127000" dist="25400" dir="5400000" algn="bl" rotWithShape="0">
              <a:srgbClr val="1E3A6B">
                <a:alpha val="12000"/>
              </a:srgbClr>
            </a:outerShdw>
          </a:effectLst>
        </p:spPr>
      </p:sp>
      <p:sp>
        <p:nvSpPr>
          <p:cNvPr id="25" name="Badge 4"/>
          <p:cNvSpPr/>
          <p:nvPr/>
        </p:nvSpPr>
        <p:spPr>
          <a:xfrm>
            <a:off x="5554980" y="1097280"/>
            <a:ext cx="256032" cy="256032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5554980" y="10972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7" name="Icon circle"/>
          <p:cNvSpPr/>
          <p:nvPr/>
        </p:nvSpPr>
        <p:spPr>
          <a:xfrm>
            <a:off x="5957316" y="1545336"/>
            <a:ext cx="566928" cy="566928"/>
          </a:xfrm>
          <a:prstGeom prst="ellipse">
            <a:avLst/>
          </a:prstGeom>
          <a:solidFill>
            <a:srgbClr val="FFFFFF">
              <a:alpha val="85000"/>
            </a:srgbClr>
          </a:solidFill>
          <a:ln w="19050">
            <a:solidFill>
              <a:srgbClr val="E76F51"/>
            </a:solidFill>
            <a:prstDash val="solid"/>
          </a:ln>
        </p:spPr>
      </p:sp>
      <p:pic>
        <p:nvPicPr>
          <p:cNvPr id="28" name="Icon FaInfoCircle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3379" y="1681399"/>
            <a:ext cx="294803" cy="294803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5554980" y="2286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.info()</a:t>
            </a:r>
            <a:endParaRPr lang="en-US" sz="1400" dirty="0"/>
          </a:p>
        </p:txBody>
      </p:sp>
      <p:sp>
        <p:nvSpPr>
          <p:cNvPr id="30" name="Text 24"/>
          <p:cNvSpPr txBox="1"/>
          <p:nvPr/>
        </p:nvSpPr>
        <p:spPr>
          <a:xfrm>
            <a:off x="5573268" y="2606040"/>
            <a:ext cx="1335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F5278"/>
                </a:solidFill>
              </a:rPr>
              <a:t>Data types &amp; non-null counts</a:t>
            </a:r>
            <a:endParaRPr lang="en-US" sz="1100" dirty="0"/>
          </a:p>
        </p:txBody>
      </p:sp>
      <p:sp>
        <p:nvSpPr>
          <p:cNvPr id="31" name="Inspect card 5"/>
          <p:cNvSpPr/>
          <p:nvPr/>
        </p:nvSpPr>
        <p:spPr>
          <a:xfrm>
            <a:off x="7132320" y="1005840"/>
            <a:ext cx="1554480" cy="2331720"/>
          </a:xfrm>
          <a:prstGeom prst="roundRect">
            <a:avLst>
              <a:gd name="adj" fmla="val 5882"/>
            </a:avLst>
          </a:prstGeom>
          <a:solidFill>
            <a:srgbClr val="FFFFFF">
              <a:alpha val="58000"/>
            </a:srgbClr>
          </a:solidFill>
          <a:ln w="15875">
            <a:solidFill>
              <a:srgbClr val="FFFFFF">
                <a:alpha val="75000"/>
              </a:srgbClr>
            </a:solidFill>
            <a:prstDash val="solid"/>
          </a:ln>
          <a:effectLst>
            <a:outerShdw blurRad="127000" dist="25400" dir="5400000" algn="bl" rotWithShape="0">
              <a:srgbClr val="1E3A6B">
                <a:alpha val="12000"/>
              </a:srgbClr>
            </a:outerShdw>
          </a:effectLst>
        </p:spPr>
      </p:sp>
      <p:sp>
        <p:nvSpPr>
          <p:cNvPr id="32" name="Badge 5"/>
          <p:cNvSpPr/>
          <p:nvPr/>
        </p:nvSpPr>
        <p:spPr>
          <a:xfrm>
            <a:off x="7223760" y="1097280"/>
            <a:ext cx="256032" cy="256032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7223760" y="10972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34" name="Icon circle"/>
          <p:cNvSpPr/>
          <p:nvPr/>
        </p:nvSpPr>
        <p:spPr>
          <a:xfrm>
            <a:off x="7626096" y="1545336"/>
            <a:ext cx="566928" cy="566928"/>
          </a:xfrm>
          <a:prstGeom prst="ellipse">
            <a:avLst/>
          </a:prstGeom>
          <a:solidFill>
            <a:srgbClr val="FFFFFF">
              <a:alpha val="85000"/>
            </a:srgbClr>
          </a:solidFill>
          <a:ln w="19050">
            <a:solidFill>
              <a:srgbClr val="2762A8"/>
            </a:solidFill>
            <a:prstDash val="solid"/>
          </a:ln>
        </p:spPr>
      </p:sp>
      <p:pic>
        <p:nvPicPr>
          <p:cNvPr id="35" name="Icon FaChartArea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62159" y="1681399"/>
            <a:ext cx="294803" cy="294803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7223760" y="2286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.describe()</a:t>
            </a:r>
            <a:endParaRPr lang="en-US" sz="1400" dirty="0"/>
          </a:p>
        </p:txBody>
      </p:sp>
      <p:sp>
        <p:nvSpPr>
          <p:cNvPr id="37" name="Text 30"/>
          <p:cNvSpPr txBox="1"/>
          <p:nvPr/>
        </p:nvSpPr>
        <p:spPr>
          <a:xfrm>
            <a:off x="7242048" y="2606040"/>
            <a:ext cx="1335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F5278"/>
                </a:solidFill>
              </a:rPr>
              <a:t>Speed spans 0.00 – 124.02 km/h</a:t>
            </a:r>
            <a:endParaRPr lang="en-US" sz="1100" dirty="0"/>
          </a:p>
        </p:txBody>
      </p:sp>
      <p:sp>
        <p:nvSpPr>
          <p:cNvPr id="38" name="Code strip"/>
          <p:cNvSpPr/>
          <p:nvPr/>
        </p:nvSpPr>
        <p:spPr>
          <a:xfrm>
            <a:off x="457200" y="356616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9" name="Text 32"/>
          <p:cNvSpPr txBox="1"/>
          <p:nvPr/>
        </p:nvSpPr>
        <p:spPr>
          <a:xfrm>
            <a:off x="685800" y="3566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data.head()  |  data.shape  |  data.columns  |  data.info()  |  data.describe()</a:t>
            </a:r>
            <a:endParaRPr lang="en-US" sz="1200" dirty="0"/>
          </a:p>
        </p:txBody>
      </p:sp>
      <p:sp>
        <p:nvSpPr>
          <p:cNvPr id="40" name="Insight chip"/>
          <p:cNvSpPr/>
          <p:nvPr/>
        </p:nvSpPr>
        <p:spPr>
          <a:xfrm>
            <a:off x="457200" y="4206240"/>
            <a:ext cx="8229600" cy="365760"/>
          </a:xfrm>
          <a:prstGeom prst="roundRect">
            <a:avLst>
              <a:gd name="adj" fmla="val 20000"/>
            </a:avLst>
          </a:prstGeom>
          <a:solidFill>
            <a:srgbClr val="D9F0EB"/>
          </a:solidFill>
          <a:ln w="12700">
            <a:solidFill>
              <a:srgbClr val="D9F0EB"/>
            </a:solidFill>
            <a:prstDash val="solid"/>
          </a:ln>
        </p:spPr>
      </p:sp>
      <p:sp>
        <p:nvSpPr>
          <p:cNvPr id="41" name="Text 34"/>
          <p:cNvSpPr txBox="1"/>
          <p:nvPr/>
        </p:nvSpPr>
        <p:spPr>
          <a:xfrm>
            <a:off x="640080" y="4206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6B5C"/>
                </a:solidFill>
              </a:rPr>
              <a:t>Target = vehicle_speed_kph (km/h), predicted from 6 input columns.</a:t>
            </a:r>
            <a:endParaRPr lang="en-US" sz="1200" dirty="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6587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pPr algn="r"/>
              <a:t>4</a:t>
            </a:fld>
            <a:endParaRPr lang="en-US"/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/>
          </p:nvPr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3. Check Data Quality</a:t>
            </a:r>
            <a:endParaRPr lang="en-US" sz="2800" dirty="0"/>
          </a:p>
        </p:txBody>
      </p:sp>
      <p:sp>
        <p:nvSpPr>
          <p:cNvPr id="3" name="Quality flow 1"/>
          <p:cNvSpPr/>
          <p:nvPr/>
        </p:nvSpPr>
        <p:spPr>
          <a:xfrm>
            <a:off x="457200" y="1005840"/>
            <a:ext cx="1828800" cy="1005840"/>
          </a:xfrm>
          <a:prstGeom prst="roundRect">
            <a:avLst>
              <a:gd name="adj" fmla="val 9091"/>
            </a:avLst>
          </a:prstGeom>
          <a:solidFill>
            <a:srgbClr val="FFFFFF">
              <a:alpha val="58000"/>
            </a:srgbClr>
          </a:solidFill>
          <a:ln w="15875">
            <a:solidFill>
              <a:srgbClr val="FFFFFF">
                <a:alpha val="75000"/>
              </a:srgbClr>
            </a:solidFill>
            <a:prstDash val="solid"/>
          </a:ln>
          <a:effectLst>
            <a:outerShdw blurRad="127000" dist="25400" dir="5400000" algn="bl" rotWithShape="0">
              <a:srgbClr val="1E3A6B">
                <a:alpha val="12000"/>
              </a:srgbClr>
            </a:outerShdw>
          </a:effectLst>
        </p:spPr>
      </p:sp>
      <p:sp>
        <p:nvSpPr>
          <p:cNvPr id="4" name="Icon circle"/>
          <p:cNvSpPr/>
          <p:nvPr/>
        </p:nvSpPr>
        <p:spPr>
          <a:xfrm>
            <a:off x="1143000" y="1097280"/>
            <a:ext cx="457200" cy="457200"/>
          </a:xfrm>
          <a:prstGeom prst="ellipse">
            <a:avLst/>
          </a:prstGeom>
          <a:solidFill>
            <a:srgbClr val="FFFFFF">
              <a:alpha val="85000"/>
            </a:srgbClr>
          </a:solidFill>
          <a:ln w="19050">
            <a:solidFill>
              <a:srgbClr val="2762A8"/>
            </a:solidFill>
            <a:prstDash val="solid"/>
          </a:ln>
        </p:spPr>
      </p:sp>
      <p:pic>
        <p:nvPicPr>
          <p:cNvPr id="5" name="Icon FaDatabase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2728" y="1207008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16276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6B"/>
                </a:solidFill>
              </a:rPr>
              <a:t>Dataset</a:t>
            </a:r>
            <a:endParaRPr lang="en-US" sz="1300" dirty="0"/>
          </a:p>
        </p:txBody>
      </p:sp>
      <p:pic>
        <p:nvPicPr>
          <p:cNvPr id="7" name="Arrow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1371600"/>
            <a:ext cx="256032" cy="256032"/>
          </a:xfrm>
          <a:prstGeom prst="rect">
            <a:avLst/>
          </a:prstGeom>
        </p:spPr>
      </p:pic>
      <p:sp>
        <p:nvSpPr>
          <p:cNvPr id="8" name="Quality flow 2"/>
          <p:cNvSpPr/>
          <p:nvPr/>
        </p:nvSpPr>
        <p:spPr>
          <a:xfrm>
            <a:off x="2560320" y="1005840"/>
            <a:ext cx="1828800" cy="1005840"/>
          </a:xfrm>
          <a:prstGeom prst="roundRect">
            <a:avLst>
              <a:gd name="adj" fmla="val 9091"/>
            </a:avLst>
          </a:prstGeom>
          <a:solidFill>
            <a:srgbClr val="FFFFFF">
              <a:alpha val="58000"/>
            </a:srgbClr>
          </a:solidFill>
          <a:ln w="15875">
            <a:solidFill>
              <a:srgbClr val="FFFFFF">
                <a:alpha val="75000"/>
              </a:srgbClr>
            </a:solidFill>
            <a:prstDash val="solid"/>
          </a:ln>
          <a:effectLst>
            <a:outerShdw blurRad="127000" dist="25400" dir="5400000" algn="bl" rotWithShape="0">
              <a:srgbClr val="1E3A6B">
                <a:alpha val="12000"/>
              </a:srgbClr>
            </a:outerShdw>
          </a:effectLst>
        </p:spPr>
      </p:sp>
      <p:sp>
        <p:nvSpPr>
          <p:cNvPr id="9" name="Icon circle"/>
          <p:cNvSpPr/>
          <p:nvPr/>
        </p:nvSpPr>
        <p:spPr>
          <a:xfrm>
            <a:off x="3246120" y="1097280"/>
            <a:ext cx="457200" cy="457200"/>
          </a:xfrm>
          <a:prstGeom prst="ellipse">
            <a:avLst/>
          </a:prstGeom>
          <a:solidFill>
            <a:srgbClr val="FFFFFF">
              <a:alpha val="85000"/>
            </a:srgbClr>
          </a:solidFill>
          <a:ln w="19050">
            <a:solidFill>
              <a:srgbClr val="E76F51"/>
            </a:solidFill>
            <a:prstDash val="solid"/>
          </a:ln>
        </p:spPr>
      </p:sp>
      <p:pic>
        <p:nvPicPr>
          <p:cNvPr id="10" name="Icon FaQuestionCircle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5848" y="1207008"/>
            <a:ext cx="237744" cy="23774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2651760" y="16276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6B"/>
                </a:solidFill>
              </a:rPr>
              <a:t>Missing Values?</a:t>
            </a:r>
            <a:endParaRPr lang="en-US" sz="1300" dirty="0"/>
          </a:p>
        </p:txBody>
      </p:sp>
      <p:pic>
        <p:nvPicPr>
          <p:cNvPr id="12" name="Arrow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1371600"/>
            <a:ext cx="256032" cy="256032"/>
          </a:xfrm>
          <a:prstGeom prst="rect">
            <a:avLst/>
          </a:prstGeom>
        </p:spPr>
      </p:pic>
      <p:sp>
        <p:nvSpPr>
          <p:cNvPr id="13" name="Quality flow 3"/>
          <p:cNvSpPr/>
          <p:nvPr/>
        </p:nvSpPr>
        <p:spPr>
          <a:xfrm>
            <a:off x="4663440" y="1005840"/>
            <a:ext cx="1828800" cy="1005840"/>
          </a:xfrm>
          <a:prstGeom prst="roundRect">
            <a:avLst>
              <a:gd name="adj" fmla="val 9091"/>
            </a:avLst>
          </a:prstGeom>
          <a:solidFill>
            <a:srgbClr val="FFFFFF">
              <a:alpha val="58000"/>
            </a:srgbClr>
          </a:solidFill>
          <a:ln w="15875">
            <a:solidFill>
              <a:srgbClr val="FFFFFF">
                <a:alpha val="75000"/>
              </a:srgbClr>
            </a:solidFill>
            <a:prstDash val="solid"/>
          </a:ln>
          <a:effectLst>
            <a:outerShdw blurRad="127000" dist="25400" dir="5400000" algn="bl" rotWithShape="0">
              <a:srgbClr val="1E3A6B">
                <a:alpha val="12000"/>
              </a:srgbClr>
            </a:outerShdw>
          </a:effectLst>
        </p:spPr>
      </p:sp>
      <p:sp>
        <p:nvSpPr>
          <p:cNvPr id="14" name="Icon circle"/>
          <p:cNvSpPr/>
          <p:nvPr/>
        </p:nvSpPr>
        <p:spPr>
          <a:xfrm>
            <a:off x="5349240" y="1097280"/>
            <a:ext cx="457200" cy="457200"/>
          </a:xfrm>
          <a:prstGeom prst="ellipse">
            <a:avLst/>
          </a:prstGeom>
          <a:solidFill>
            <a:srgbClr val="FFFFFF">
              <a:alpha val="85000"/>
            </a:srgbClr>
          </a:solidFill>
          <a:ln w="19050">
            <a:solidFill>
              <a:srgbClr val="7B6BD6"/>
            </a:solidFill>
            <a:prstDash val="solid"/>
          </a:ln>
        </p:spPr>
      </p:sp>
      <p:pic>
        <p:nvPicPr>
          <p:cNvPr id="15" name="Icon FaClone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8968" y="1207008"/>
            <a:ext cx="237744" cy="237744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4754880" y="16276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6B"/>
                </a:solidFill>
              </a:rPr>
              <a:t>Duplicate Rows?</a:t>
            </a:r>
            <a:endParaRPr lang="en-US" sz="1300" dirty="0"/>
          </a:p>
        </p:txBody>
      </p:sp>
      <p:pic>
        <p:nvPicPr>
          <p:cNvPr id="17" name="Arrow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1371600"/>
            <a:ext cx="256032" cy="256032"/>
          </a:xfrm>
          <a:prstGeom prst="rect">
            <a:avLst/>
          </a:prstGeom>
        </p:spPr>
      </p:pic>
      <p:sp>
        <p:nvSpPr>
          <p:cNvPr id="18" name="Quality flow 4"/>
          <p:cNvSpPr/>
          <p:nvPr/>
        </p:nvSpPr>
        <p:spPr>
          <a:xfrm>
            <a:off x="6766560" y="1005840"/>
            <a:ext cx="1828800" cy="1005840"/>
          </a:xfrm>
          <a:prstGeom prst="roundRect">
            <a:avLst>
              <a:gd name="adj" fmla="val 9091"/>
            </a:avLst>
          </a:prstGeom>
          <a:solidFill>
            <a:srgbClr val="FFFFFF">
              <a:alpha val="58000"/>
            </a:srgbClr>
          </a:solidFill>
          <a:ln w="15875">
            <a:solidFill>
              <a:srgbClr val="FFFFFF">
                <a:alpha val="75000"/>
              </a:srgbClr>
            </a:solidFill>
            <a:prstDash val="solid"/>
          </a:ln>
          <a:effectLst>
            <a:outerShdw blurRad="127000" dist="25400" dir="5400000" algn="bl" rotWithShape="0">
              <a:srgbClr val="1E3A6B">
                <a:alpha val="12000"/>
              </a:srgbClr>
            </a:outerShdw>
          </a:effectLst>
        </p:spPr>
      </p:sp>
      <p:sp>
        <p:nvSpPr>
          <p:cNvPr id="19" name="Icon circle"/>
          <p:cNvSpPr/>
          <p:nvPr/>
        </p:nvSpPr>
        <p:spPr>
          <a:xfrm>
            <a:off x="7452360" y="1097280"/>
            <a:ext cx="457200" cy="457200"/>
          </a:xfrm>
          <a:prstGeom prst="ellipse">
            <a:avLst/>
          </a:prstGeom>
          <a:solidFill>
            <a:srgbClr val="FFFFFF">
              <a:alpha val="85000"/>
            </a:srgbClr>
          </a:solidFill>
          <a:ln w="19050">
            <a:solidFill>
              <a:srgbClr val="2EA995"/>
            </a:solidFill>
            <a:prstDash val="solid"/>
          </a:ln>
        </p:spPr>
      </p:sp>
      <p:pic>
        <p:nvPicPr>
          <p:cNvPr id="20" name="Icon FaCheckCircle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62088" y="1207008"/>
            <a:ext cx="237744" cy="237744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6858000" y="16276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6B"/>
                </a:solidFill>
              </a:rPr>
              <a:t>Clean Data</a:t>
            </a:r>
            <a:endParaRPr lang="en-US" sz="1300" dirty="0"/>
          </a:p>
        </p:txBody>
      </p:sp>
      <p:sp>
        <p:nvSpPr>
          <p:cNvPr id="22" name="Quality result 1"/>
          <p:cNvSpPr/>
          <p:nvPr/>
        </p:nvSpPr>
        <p:spPr>
          <a:xfrm>
            <a:off x="457200" y="224028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FFFFF">
              <a:alpha val="58000"/>
            </a:srgbClr>
          </a:solidFill>
          <a:ln w="15875">
            <a:solidFill>
              <a:srgbClr val="FFFFFF">
                <a:alpha val="75000"/>
              </a:srgbClr>
            </a:solidFill>
            <a:prstDash val="solid"/>
          </a:ln>
          <a:effectLst>
            <a:outerShdw blurRad="127000" dist="25400" dir="5400000" algn="bl" rotWithShape="0">
              <a:srgbClr val="1E3A6B">
                <a:alpha val="12000"/>
              </a:srgbClr>
            </a:outerShdw>
          </a:effectLst>
        </p:spPr>
      </p:sp>
      <p:sp>
        <p:nvSpPr>
          <p:cNvPr id="23" name="Text 14"/>
          <p:cNvSpPr txBox="1"/>
          <p:nvPr/>
        </p:nvSpPr>
        <p:spPr>
          <a:xfrm>
            <a:off x="685800" y="23317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76F51"/>
                </a:solidFill>
              </a:rPr>
              <a:t>1. Missing Values</a:t>
            </a:r>
            <a:endParaRPr lang="en-US" sz="1400" dirty="0"/>
          </a:p>
        </p:txBody>
      </p:sp>
      <p:sp>
        <p:nvSpPr>
          <p:cNvPr id="24" name="Text 15"/>
          <p:cNvSpPr txBox="1"/>
          <p:nvPr/>
        </p:nvSpPr>
        <p:spPr>
          <a:xfrm>
            <a:off x="685800" y="2651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F5278"/>
                </a:solidFill>
              </a:rPr>
              <a:t>Any blank / NaN in a column?</a:t>
            </a:r>
            <a:endParaRPr lang="en-US" sz="1150" dirty="0"/>
          </a:p>
        </p:txBody>
      </p:sp>
      <p:sp>
        <p:nvSpPr>
          <p:cNvPr id="25" name="Text 16"/>
          <p:cNvSpPr txBox="1"/>
          <p:nvPr/>
        </p:nvSpPr>
        <p:spPr>
          <a:xfrm>
            <a:off x="3108960" y="233172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EA995"/>
                </a:solidFill>
              </a:rPr>
              <a:t>0</a:t>
            </a:r>
            <a:endParaRPr lang="en-US" sz="4400" dirty="0"/>
          </a:p>
        </p:txBody>
      </p:sp>
      <p:sp>
        <p:nvSpPr>
          <p:cNvPr id="26" name="Text 17"/>
          <p:cNvSpPr txBox="1"/>
          <p:nvPr/>
        </p:nvSpPr>
        <p:spPr>
          <a:xfrm>
            <a:off x="3108960" y="30175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A995"/>
                </a:solidFill>
              </a:rPr>
              <a:t>found</a:t>
            </a:r>
            <a:endParaRPr lang="en-US" sz="1200" dirty="0"/>
          </a:p>
        </p:txBody>
      </p:sp>
      <p:sp>
        <p:nvSpPr>
          <p:cNvPr id="27" name="Code pill 1"/>
          <p:cNvSpPr/>
          <p:nvPr/>
        </p:nvSpPr>
        <p:spPr>
          <a:xfrm>
            <a:off x="685800" y="3246120"/>
            <a:ext cx="2331720" cy="411480"/>
          </a:xfrm>
          <a:prstGeom prst="roundRect">
            <a:avLst>
              <a:gd name="adj" fmla="val 1777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8" name="Text 19"/>
          <p:cNvSpPr txBox="1"/>
          <p:nvPr/>
        </p:nvSpPr>
        <p:spPr>
          <a:xfrm>
            <a:off x="685800" y="32461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data.isnull().sum()</a:t>
            </a:r>
            <a:endParaRPr lang="en-US" sz="1150" dirty="0"/>
          </a:p>
        </p:txBody>
      </p:sp>
      <p:sp>
        <p:nvSpPr>
          <p:cNvPr id="29" name="Quality result 2"/>
          <p:cNvSpPr/>
          <p:nvPr/>
        </p:nvSpPr>
        <p:spPr>
          <a:xfrm>
            <a:off x="4663440" y="224028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FFFFF">
              <a:alpha val="58000"/>
            </a:srgbClr>
          </a:solidFill>
          <a:ln w="15875">
            <a:solidFill>
              <a:srgbClr val="FFFFFF">
                <a:alpha val="75000"/>
              </a:srgbClr>
            </a:solidFill>
            <a:prstDash val="solid"/>
          </a:ln>
          <a:effectLst>
            <a:outerShdw blurRad="127000" dist="25400" dir="5400000" algn="bl" rotWithShape="0">
              <a:srgbClr val="1E3A6B">
                <a:alpha val="12000"/>
              </a:srgbClr>
            </a:outerShdw>
          </a:effectLst>
        </p:spPr>
      </p:sp>
      <p:sp>
        <p:nvSpPr>
          <p:cNvPr id="30" name="Text 21"/>
          <p:cNvSpPr txBox="1"/>
          <p:nvPr/>
        </p:nvSpPr>
        <p:spPr>
          <a:xfrm>
            <a:off x="4892040" y="23317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7B6BD6"/>
                </a:solidFill>
              </a:rPr>
              <a:t>2. Duplicate Rows</a:t>
            </a:r>
            <a:endParaRPr lang="en-US" sz="1400" dirty="0"/>
          </a:p>
        </p:txBody>
      </p:sp>
      <p:sp>
        <p:nvSpPr>
          <p:cNvPr id="31" name="Text 22"/>
          <p:cNvSpPr txBox="1"/>
          <p:nvPr/>
        </p:nvSpPr>
        <p:spPr>
          <a:xfrm>
            <a:off x="4892040" y="2651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F5278"/>
                </a:solidFill>
              </a:rPr>
              <a:t>Same record repeated?</a:t>
            </a:r>
            <a:endParaRPr lang="en-US" sz="1150" dirty="0"/>
          </a:p>
        </p:txBody>
      </p:sp>
      <p:sp>
        <p:nvSpPr>
          <p:cNvPr id="32" name="Text 23"/>
          <p:cNvSpPr txBox="1"/>
          <p:nvPr/>
        </p:nvSpPr>
        <p:spPr>
          <a:xfrm>
            <a:off x="7315200" y="233172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EA995"/>
                </a:solidFill>
              </a:rPr>
              <a:t>0</a:t>
            </a:r>
            <a:endParaRPr lang="en-US" sz="4400" dirty="0"/>
          </a:p>
        </p:txBody>
      </p:sp>
      <p:sp>
        <p:nvSpPr>
          <p:cNvPr id="33" name="Text 24"/>
          <p:cNvSpPr txBox="1"/>
          <p:nvPr/>
        </p:nvSpPr>
        <p:spPr>
          <a:xfrm>
            <a:off x="7315200" y="30175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A995"/>
                </a:solidFill>
              </a:rPr>
              <a:t>found</a:t>
            </a:r>
            <a:endParaRPr lang="en-US" sz="1200" dirty="0"/>
          </a:p>
        </p:txBody>
      </p:sp>
      <p:sp>
        <p:nvSpPr>
          <p:cNvPr id="34" name="Code pill 2"/>
          <p:cNvSpPr/>
          <p:nvPr/>
        </p:nvSpPr>
        <p:spPr>
          <a:xfrm>
            <a:off x="4892040" y="3246120"/>
            <a:ext cx="2331720" cy="411480"/>
          </a:xfrm>
          <a:prstGeom prst="roundRect">
            <a:avLst>
              <a:gd name="adj" fmla="val 1777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5" name="Text 26"/>
          <p:cNvSpPr txBox="1"/>
          <p:nvPr/>
        </p:nvSpPr>
        <p:spPr>
          <a:xfrm>
            <a:off x="4892040" y="32461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data.duplicated().sum()</a:t>
            </a:r>
            <a:endParaRPr lang="en-US" sz="1150" dirty="0"/>
          </a:p>
        </p:txBody>
      </p:sp>
      <p:sp>
        <p:nvSpPr>
          <p:cNvPr id="36" name="Note chip"/>
          <p:cNvSpPr/>
          <p:nvPr/>
        </p:nvSpPr>
        <p:spPr>
          <a:xfrm>
            <a:off x="457200" y="406908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7" name="Icon check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4178808"/>
            <a:ext cx="237744" cy="237744"/>
          </a:xfrm>
          <a:prstGeom prst="rect">
            <a:avLst/>
          </a:prstGeom>
        </p:spPr>
      </p:pic>
      <p:sp>
        <p:nvSpPr>
          <p:cNvPr id="38" name="Text 28"/>
          <p:cNvSpPr txBox="1"/>
          <p:nvPr/>
        </p:nvSpPr>
        <p:spPr>
          <a:xfrm>
            <a:off x="1005840" y="40690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6B"/>
                </a:solidFill>
              </a:rPr>
              <a:t>Data is clean: duplicate rows are dropped and required columns are checked before training.</a:t>
            </a:r>
            <a:endParaRPr lang="en-US" sz="125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6587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pPr algn="r"/>
              <a:t>5</a:t>
            </a:fld>
            <a:endParaRPr lang="en-US"/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/>
          </p:nvPr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4. Define Features &amp; Target</a:t>
            </a:r>
            <a:endParaRPr lang="en-US" sz="2800" dirty="0"/>
          </a:p>
        </p:txBody>
      </p:sp>
      <p:sp>
        <p:nvSpPr>
          <p:cNvPr id="3" name="Features panel"/>
          <p:cNvSpPr/>
          <p:nvPr/>
        </p:nvSpPr>
        <p:spPr>
          <a:xfrm>
            <a:off x="457200" y="1005840"/>
            <a:ext cx="4983480" cy="2011680"/>
          </a:xfrm>
          <a:prstGeom prst="roundRect">
            <a:avLst>
              <a:gd name="adj" fmla="val 4545"/>
            </a:avLst>
          </a:prstGeom>
          <a:solidFill>
            <a:srgbClr val="FFFFFF">
              <a:alpha val="58000"/>
            </a:srgbClr>
          </a:solidFill>
          <a:ln w="15875">
            <a:solidFill>
              <a:srgbClr val="FFFFFF">
                <a:alpha val="75000"/>
              </a:srgbClr>
            </a:solidFill>
            <a:prstDash val="solid"/>
          </a:ln>
          <a:effectLst>
            <a:outerShdw blurRad="127000" dist="25400" dir="5400000" algn="bl" rotWithShape="0">
              <a:srgbClr val="1E3A6B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10972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762A8"/>
                </a:solidFill>
              </a:rPr>
              <a:t>FEATURES (X)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286000" y="109728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3F5278"/>
                </a:solidFill>
              </a:rPr>
              <a:t>Inputs used to estimate speed</a:t>
            </a:r>
            <a:endParaRPr lang="en-US" sz="1100" dirty="0"/>
          </a:p>
        </p:txBody>
      </p:sp>
      <p:sp>
        <p:nvSpPr>
          <p:cNvPr id="6" name="Feature pill 1"/>
          <p:cNvSpPr/>
          <p:nvPr/>
        </p:nvSpPr>
        <p:spPr>
          <a:xfrm>
            <a:off x="640080" y="1444752"/>
            <a:ext cx="2240280" cy="411480"/>
          </a:xfrm>
          <a:prstGeom prst="roundRect">
            <a:avLst>
              <a:gd name="adj" fmla="val 48889"/>
            </a:avLst>
          </a:prstGeom>
          <a:solidFill>
            <a:srgbClr val="FFFFFF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44475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engine_rpm</a:t>
            </a:r>
            <a:endParaRPr lang="en-US" sz="1100" dirty="0"/>
          </a:p>
        </p:txBody>
      </p:sp>
      <p:sp>
        <p:nvSpPr>
          <p:cNvPr id="8" name="Feature pill 2"/>
          <p:cNvSpPr/>
          <p:nvPr/>
        </p:nvSpPr>
        <p:spPr>
          <a:xfrm>
            <a:off x="3017520" y="1444752"/>
            <a:ext cx="2240280" cy="411480"/>
          </a:xfrm>
          <a:prstGeom prst="roundRect">
            <a:avLst>
              <a:gd name="adj" fmla="val 48889"/>
            </a:avLst>
          </a:prstGeom>
          <a:solidFill>
            <a:srgbClr val="FFFFFF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154680" y="144475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throttle_pos_percent</a:t>
            </a:r>
            <a:endParaRPr lang="en-US" sz="1100" dirty="0"/>
          </a:p>
        </p:txBody>
      </p:sp>
      <p:sp>
        <p:nvSpPr>
          <p:cNvPr id="10" name="Feature pill 3"/>
          <p:cNvSpPr/>
          <p:nvPr/>
        </p:nvSpPr>
        <p:spPr>
          <a:xfrm>
            <a:off x="640080" y="1947672"/>
            <a:ext cx="2240280" cy="411480"/>
          </a:xfrm>
          <a:prstGeom prst="roundRect">
            <a:avLst>
              <a:gd name="adj" fmla="val 48889"/>
            </a:avLst>
          </a:prstGeom>
          <a:solidFill>
            <a:srgbClr val="FFFFFF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194767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brake_pressure_percent</a:t>
            </a:r>
            <a:endParaRPr lang="en-US" sz="1100" dirty="0"/>
          </a:p>
        </p:txBody>
      </p:sp>
      <p:sp>
        <p:nvSpPr>
          <p:cNvPr id="12" name="Feature pill 4"/>
          <p:cNvSpPr/>
          <p:nvPr/>
        </p:nvSpPr>
        <p:spPr>
          <a:xfrm>
            <a:off x="3017520" y="1947672"/>
            <a:ext cx="2240280" cy="411480"/>
          </a:xfrm>
          <a:prstGeom prst="roundRect">
            <a:avLst>
              <a:gd name="adj" fmla="val 48889"/>
            </a:avLst>
          </a:prstGeom>
          <a:solidFill>
            <a:srgbClr val="FFFFFF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154680" y="194767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engine_load_percent</a:t>
            </a:r>
            <a:endParaRPr lang="en-US" sz="1100" dirty="0"/>
          </a:p>
        </p:txBody>
      </p:sp>
      <p:sp>
        <p:nvSpPr>
          <p:cNvPr id="14" name="Feature pill 5"/>
          <p:cNvSpPr/>
          <p:nvPr/>
        </p:nvSpPr>
        <p:spPr>
          <a:xfrm>
            <a:off x="640080" y="2450592"/>
            <a:ext cx="2240280" cy="411480"/>
          </a:xfrm>
          <a:prstGeom prst="roundRect">
            <a:avLst>
              <a:gd name="adj" fmla="val 48889"/>
            </a:avLst>
          </a:prstGeom>
          <a:solidFill>
            <a:srgbClr val="FFFFFF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245059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gear</a:t>
            </a:r>
            <a:endParaRPr lang="en-US" sz="1100" dirty="0"/>
          </a:p>
        </p:txBody>
      </p:sp>
      <p:sp>
        <p:nvSpPr>
          <p:cNvPr id="16" name="Feature pill 6"/>
          <p:cNvSpPr/>
          <p:nvPr/>
        </p:nvSpPr>
        <p:spPr>
          <a:xfrm>
            <a:off x="3017520" y="2450592"/>
            <a:ext cx="2240280" cy="411480"/>
          </a:xfrm>
          <a:prstGeom prst="roundRect">
            <a:avLst>
              <a:gd name="adj" fmla="val 48889"/>
            </a:avLst>
          </a:prstGeom>
          <a:solidFill>
            <a:srgbClr val="FFFFFF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154680" y="245059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road_slope_percent</a:t>
            </a:r>
            <a:endParaRPr lang="en-US" sz="1100" dirty="0"/>
          </a:p>
        </p:txBody>
      </p:sp>
      <p:pic>
        <p:nvPicPr>
          <p:cNvPr id="18" name="Arrow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1874520"/>
            <a:ext cx="256032" cy="256032"/>
          </a:xfrm>
          <a:prstGeom prst="rect">
            <a:avLst/>
          </a:prstGeom>
        </p:spPr>
      </p:pic>
      <p:sp>
        <p:nvSpPr>
          <p:cNvPr id="19" name="Model box"/>
          <p:cNvSpPr/>
          <p:nvPr/>
        </p:nvSpPr>
        <p:spPr>
          <a:xfrm>
            <a:off x="5852160" y="1005840"/>
            <a:ext cx="1188720" cy="2011680"/>
          </a:xfrm>
          <a:prstGeom prst="roundRect">
            <a:avLst>
              <a:gd name="adj" fmla="val 615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20" name="Icon model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371600"/>
            <a:ext cx="457200" cy="457200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5852160" y="196596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Linear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Regression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Model</a:t>
            </a:r>
            <a:endParaRPr lang="en-US" sz="1300" dirty="0"/>
          </a:p>
        </p:txBody>
      </p:sp>
      <p:pic>
        <p:nvPicPr>
          <p:cNvPr id="22" name="Arrow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4032" y="1874520"/>
            <a:ext cx="256032" cy="256032"/>
          </a:xfrm>
          <a:prstGeom prst="rect">
            <a:avLst/>
          </a:prstGeom>
        </p:spPr>
      </p:pic>
      <p:sp>
        <p:nvSpPr>
          <p:cNvPr id="23" name="Target card"/>
          <p:cNvSpPr/>
          <p:nvPr/>
        </p:nvSpPr>
        <p:spPr>
          <a:xfrm>
            <a:off x="7424928" y="1005840"/>
            <a:ext cx="1261872" cy="2011680"/>
          </a:xfrm>
          <a:prstGeom prst="roundRect">
            <a:avLst>
              <a:gd name="adj" fmla="val 579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4" name="Icon target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7264" y="1371600"/>
            <a:ext cx="457200" cy="45720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424928" y="1965960"/>
            <a:ext cx="1261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</a:rPr>
              <a:t>TARGET (y)</a:t>
            </a:r>
            <a:endParaRPr lang="en-US" sz="1000" dirty="0"/>
          </a:p>
        </p:txBody>
      </p:sp>
      <p:sp>
        <p:nvSpPr>
          <p:cNvPr id="26" name="Text 20"/>
          <p:cNvSpPr txBox="1"/>
          <p:nvPr/>
        </p:nvSpPr>
        <p:spPr>
          <a:xfrm>
            <a:off x="7424928" y="2212848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vehicle_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speed_kph</a:t>
            </a:r>
            <a:endParaRPr lang="en-US" sz="1200" dirty="0"/>
          </a:p>
        </p:txBody>
      </p:sp>
      <p:sp>
        <p:nvSpPr>
          <p:cNvPr id="27" name="Text 21"/>
          <p:cNvSpPr txBox="1"/>
          <p:nvPr/>
        </p:nvSpPr>
        <p:spPr>
          <a:xfrm>
            <a:off x="7424928" y="2697480"/>
            <a:ext cx="1261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6F6F2"/>
                </a:solidFill>
              </a:rPr>
              <a:t>km/h</a:t>
            </a:r>
            <a:endParaRPr lang="en-US" sz="1100" dirty="0"/>
          </a:p>
        </p:txBody>
      </p:sp>
      <p:sp>
        <p:nvSpPr>
          <p:cNvPr id="28" name="Code strip"/>
          <p:cNvSpPr/>
          <p:nvPr/>
        </p:nvSpPr>
        <p:spPr>
          <a:xfrm>
            <a:off x="457200" y="3246120"/>
            <a:ext cx="8229600" cy="731520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685800" y="32461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data[feature_columns]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data['vehicle_speed_kph']</a:t>
            </a:r>
            <a:endParaRPr lang="en-US" sz="1300" dirty="0"/>
          </a:p>
        </p:txBody>
      </p:sp>
      <p:pic>
        <p:nvPicPr>
          <p:cNvPr id="30" name="Icon warning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4224528"/>
            <a:ext cx="237744" cy="237744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822960" y="41605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6B"/>
                </a:solidFill>
              </a:rPr>
              <a:t>Required feature and target columns are checked before training.</a:t>
            </a:r>
            <a:endParaRPr lang="en-US" sz="125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6587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pPr algn="r"/>
              <a:t>6</a:t>
            </a:fld>
            <a:endParaRPr lang="en-US"/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/>
          </p:nvPr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5. Data Visualization</a:t>
            </a:r>
            <a:endParaRPr lang="en-US" sz="2800" dirty="0"/>
          </a:p>
        </p:txBody>
      </p:sp>
      <p:sp>
        <p:nvSpPr>
          <p:cNvPr id="3" name="EDA card 1"/>
          <p:cNvSpPr/>
          <p:nvPr/>
        </p:nvSpPr>
        <p:spPr>
          <a:xfrm>
            <a:off x="457200" y="1005840"/>
            <a:ext cx="4023360" cy="2926080"/>
          </a:xfrm>
          <a:prstGeom prst="roundRect">
            <a:avLst>
              <a:gd name="adj" fmla="val 3125"/>
            </a:avLst>
          </a:prstGeom>
          <a:solidFill>
            <a:srgbClr val="FFFFFF">
              <a:alpha val="58000"/>
            </a:srgbClr>
          </a:solidFill>
          <a:ln w="15875">
            <a:solidFill>
              <a:srgbClr val="FFFFFF">
                <a:alpha val="75000"/>
              </a:srgbClr>
            </a:solidFill>
            <a:prstDash val="solid"/>
          </a:ln>
          <a:effectLst>
            <a:outerShdw blurRad="127000" dist="25400" dir="5400000" algn="bl" rotWithShape="0">
              <a:srgbClr val="1E3A6B">
                <a:alpha val="12000"/>
              </a:srgbClr>
            </a:outerShdw>
          </a:effectLst>
        </p:spPr>
      </p:sp>
      <p:pic>
        <p:nvPicPr>
          <p:cNvPr id="4" name="Scatter: Throttle vs Speed chart" descr="Scatter: Throttle vs Speed scatter pl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115568"/>
            <a:ext cx="3803904" cy="209486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33101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3A6B"/>
                </a:solidFill>
              </a:rPr>
              <a:t>Scatter: Throttle vs Speed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593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F5278"/>
                </a:solidFill>
              </a:rPr>
              <a:t>Clear upward trend: more throttle, higher speed.</a:t>
            </a:r>
            <a:endParaRPr lang="en-US" sz="1200" dirty="0"/>
          </a:p>
        </p:txBody>
      </p:sp>
      <p:sp>
        <p:nvSpPr>
          <p:cNvPr id="7" name="EDA card 2"/>
          <p:cNvSpPr/>
          <p:nvPr/>
        </p:nvSpPr>
        <p:spPr>
          <a:xfrm>
            <a:off x="4663440" y="1005840"/>
            <a:ext cx="4023360" cy="2926080"/>
          </a:xfrm>
          <a:prstGeom prst="roundRect">
            <a:avLst>
              <a:gd name="adj" fmla="val 3125"/>
            </a:avLst>
          </a:prstGeom>
          <a:solidFill>
            <a:srgbClr val="FFFFFF">
              <a:alpha val="58000"/>
            </a:srgbClr>
          </a:solidFill>
          <a:ln w="15875">
            <a:solidFill>
              <a:srgbClr val="FFFFFF">
                <a:alpha val="75000"/>
              </a:srgbClr>
            </a:solidFill>
            <a:prstDash val="solid"/>
          </a:ln>
          <a:effectLst>
            <a:outerShdw blurRad="127000" dist="25400" dir="5400000" algn="bl" rotWithShape="0">
              <a:srgbClr val="1E3A6B">
                <a:alpha val="12000"/>
              </a:srgbClr>
            </a:outerShdw>
          </a:effectLst>
        </p:spPr>
      </p:sp>
      <p:pic>
        <p:nvPicPr>
          <p:cNvPr id="8" name="Scatter: Engine RPM vs Speed chart" descr="Scatter: Engine RPM vs Speed scatter plo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1115568"/>
            <a:ext cx="3803904" cy="209486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846320" y="33101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3A6B"/>
                </a:solidFill>
              </a:rPr>
              <a:t>Scatter: Engine RPM vs Speed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4846320" y="3593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F5278"/>
                </a:solidFill>
              </a:rPr>
              <a:t>Tight, near-linear band: RPM tracks speed closely.</a:t>
            </a:r>
            <a:endParaRPr lang="en-US" sz="1200" dirty="0"/>
          </a:p>
        </p:txBody>
      </p:sp>
      <p:sp>
        <p:nvSpPr>
          <p:cNvPr id="11" name="Takeaway"/>
          <p:cNvSpPr/>
          <p:nvPr/>
        </p:nvSpPr>
        <p:spPr>
          <a:xfrm>
            <a:off x="457200" y="411480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D9F0EB"/>
          </a:solidFill>
          <a:ln w="12700">
            <a:solidFill>
              <a:srgbClr val="D9F0EB"/>
            </a:solidFill>
            <a:prstDash val="solid"/>
          </a:ln>
        </p:spPr>
      </p:sp>
      <p:pic>
        <p:nvPicPr>
          <p:cNvPr id="12" name="Icon idea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224528"/>
            <a:ext cx="237744" cy="23774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051560" y="4114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6B5C"/>
                </a:solidFill>
              </a:rPr>
              <a:t>Graphs show strong linear patterns before training, so Linear Regression is a suitable baseline.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6587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pPr algn="r"/>
              <a:t>7</a:t>
            </a:fld>
            <a:endParaRPr lang="en-US"/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/>
          </p:nvPr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6. Train–Test Split &amp; Create the Model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3F5278"/>
                </a:solidFill>
              </a:rPr>
              <a:t>FULL DATASET (X, y)  –  20,000 rows</a:t>
            </a:r>
            <a:endParaRPr lang="en-US" sz="1100" dirty="0"/>
          </a:p>
        </p:txBody>
      </p:sp>
      <p:sp>
        <p:nvSpPr>
          <p:cNvPr id="4" name="Train bar"/>
          <p:cNvSpPr/>
          <p:nvPr/>
        </p:nvSpPr>
        <p:spPr>
          <a:xfrm>
            <a:off x="457200" y="1234440"/>
            <a:ext cx="6583680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3444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Training Data  80%  (16,000 rows)</a:t>
            </a:r>
            <a:endParaRPr lang="en-US" sz="1500" dirty="0"/>
          </a:p>
        </p:txBody>
      </p:sp>
      <p:sp>
        <p:nvSpPr>
          <p:cNvPr id="6" name="Test bar"/>
          <p:cNvSpPr/>
          <p:nvPr/>
        </p:nvSpPr>
        <p:spPr>
          <a:xfrm>
            <a:off x="7040880" y="1234440"/>
            <a:ext cx="1645920" cy="502920"/>
          </a:xfrm>
          <a:prstGeom prst="roundRect">
            <a:avLst>
              <a:gd name="adj" fmla="val 14545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040880" y="12344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Test  20%</a:t>
            </a:r>
            <a:endParaRPr lang="en-US" sz="1500" dirty="0"/>
          </a:p>
        </p:txBody>
      </p:sp>
      <p:sp>
        <p:nvSpPr>
          <p:cNvPr id="8" name="Learns the pattern between the 6 inputs and speed."/>
          <p:cNvSpPr/>
          <p:nvPr/>
        </p:nvSpPr>
        <p:spPr>
          <a:xfrm>
            <a:off x="457200" y="1965960"/>
            <a:ext cx="4069080" cy="914400"/>
          </a:xfrm>
          <a:prstGeom prst="roundRect">
            <a:avLst>
              <a:gd name="adj" fmla="val 10000"/>
            </a:avLst>
          </a:prstGeom>
          <a:solidFill>
            <a:srgbClr val="FFFFFF">
              <a:alpha val="58000"/>
            </a:srgbClr>
          </a:solidFill>
          <a:ln w="15875">
            <a:solidFill>
              <a:srgbClr val="FFFFFF">
                <a:alpha val="75000"/>
              </a:srgbClr>
            </a:solidFill>
            <a:prstDash val="solid"/>
          </a:ln>
          <a:effectLst>
            <a:outerShdw blurRad="127000" dist="25400" dir="5400000" algn="bl" rotWithShape="0">
              <a:srgbClr val="1E3A6B">
                <a:alpha val="12000"/>
              </a:srgbClr>
            </a:outerShdw>
          </a:effectLst>
        </p:spPr>
      </p:sp>
      <p:sp>
        <p:nvSpPr>
          <p:cNvPr id="9" name="Icon circle"/>
          <p:cNvSpPr/>
          <p:nvPr/>
        </p:nvSpPr>
        <p:spPr>
          <a:xfrm>
            <a:off x="662940" y="2171700"/>
            <a:ext cx="502920" cy="502920"/>
          </a:xfrm>
          <a:prstGeom prst="ellipse">
            <a:avLst/>
          </a:prstGeom>
          <a:solidFill>
            <a:srgbClr val="FFFFFF">
              <a:alpha val="85000"/>
            </a:srgbClr>
          </a:solidFill>
          <a:ln w="19050">
            <a:solidFill>
              <a:srgbClr val="2762A8"/>
            </a:solidFill>
            <a:prstDash val="solid"/>
          </a:ln>
        </p:spPr>
      </p:sp>
      <p:pic>
        <p:nvPicPr>
          <p:cNvPr id="10" name="Icon FaGraduationCap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641" y="2292401"/>
            <a:ext cx="261518" cy="261518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325880" y="20574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3A6B"/>
                </a:solidFill>
              </a:rPr>
              <a:t>Teaches the model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325880" y="235915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F5278"/>
                </a:solidFill>
              </a:rPr>
              <a:t>Learns the pattern between the 6 inputs and speed.</a:t>
            </a:r>
            <a:endParaRPr lang="en-US" sz="1150" dirty="0"/>
          </a:p>
        </p:txBody>
      </p:sp>
      <p:sp>
        <p:nvSpPr>
          <p:cNvPr id="13" name="4,000 rows the model has never seen."/>
          <p:cNvSpPr/>
          <p:nvPr/>
        </p:nvSpPr>
        <p:spPr>
          <a:xfrm>
            <a:off x="4617720" y="1965960"/>
            <a:ext cx="4069080" cy="914400"/>
          </a:xfrm>
          <a:prstGeom prst="roundRect">
            <a:avLst>
              <a:gd name="adj" fmla="val 10000"/>
            </a:avLst>
          </a:prstGeom>
          <a:solidFill>
            <a:srgbClr val="FFFFFF">
              <a:alpha val="58000"/>
            </a:srgbClr>
          </a:solidFill>
          <a:ln w="15875">
            <a:solidFill>
              <a:srgbClr val="FFFFFF">
                <a:alpha val="75000"/>
              </a:srgbClr>
            </a:solidFill>
            <a:prstDash val="solid"/>
          </a:ln>
          <a:effectLst>
            <a:outerShdw blurRad="127000" dist="25400" dir="5400000" algn="bl" rotWithShape="0">
              <a:srgbClr val="1E3A6B">
                <a:alpha val="12000"/>
              </a:srgbClr>
            </a:outerShdw>
          </a:effectLst>
        </p:spPr>
      </p:sp>
      <p:sp>
        <p:nvSpPr>
          <p:cNvPr id="14" name="Icon circle"/>
          <p:cNvSpPr/>
          <p:nvPr/>
        </p:nvSpPr>
        <p:spPr>
          <a:xfrm>
            <a:off x="4823460" y="2171700"/>
            <a:ext cx="502920" cy="502920"/>
          </a:xfrm>
          <a:prstGeom prst="ellipse">
            <a:avLst/>
          </a:prstGeom>
          <a:solidFill>
            <a:srgbClr val="FFFFFF">
              <a:alpha val="85000"/>
            </a:srgbClr>
          </a:solidFill>
          <a:ln w="19050">
            <a:solidFill>
              <a:srgbClr val="2EA995"/>
            </a:solidFill>
            <a:prstDash val="solid"/>
          </a:ln>
        </p:spPr>
      </p:sp>
      <p:pic>
        <p:nvPicPr>
          <p:cNvPr id="15" name="Icon FaFlask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4161" y="2292401"/>
            <a:ext cx="261518" cy="261518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486400" y="20574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3A6B"/>
                </a:solidFill>
              </a:rPr>
              <a:t>Checks performance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0" y="235915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F5278"/>
                </a:solidFill>
              </a:rPr>
              <a:t>4,000 rows the model has never seen.</a:t>
            </a:r>
            <a:endParaRPr lang="en-US" sz="1150" dirty="0"/>
          </a:p>
        </p:txBody>
      </p:sp>
      <p:sp>
        <p:nvSpPr>
          <p:cNvPr id="18" name="Why chip"/>
          <p:cNvSpPr/>
          <p:nvPr/>
        </p:nvSpPr>
        <p:spPr>
          <a:xfrm>
            <a:off x="457200" y="301752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CEBC0"/>
          </a:solidFill>
          <a:ln w="12700">
            <a:solidFill>
              <a:srgbClr val="FCEBC0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40080" y="30175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64B"/>
                </a:solidFill>
              </a:rPr>
              <a:t>Why Linear Regression?  </a:t>
            </a:r>
            <a:r>
              <a:rPr lang="en-US" sz="1300" dirty="0">
                <a:solidFill>
                  <a:srgbClr val="14264B"/>
                </a:solidFill>
              </a:rPr>
              <a:t>Speed is continuous:  ŷ = β₀ + β₁x₁ + β₂x₂ + … + β₆x₆</a:t>
            </a:r>
            <a:endParaRPr lang="en-US" sz="1300" dirty="0"/>
          </a:p>
        </p:txBody>
      </p:sp>
      <p:sp>
        <p:nvSpPr>
          <p:cNvPr id="20" name="Code strip"/>
          <p:cNvSpPr/>
          <p:nvPr/>
        </p:nvSpPr>
        <p:spPr>
          <a:xfrm>
            <a:off x="457200" y="3657600"/>
            <a:ext cx="8229600" cy="868680"/>
          </a:xfrm>
          <a:prstGeom prst="roundRect">
            <a:avLst>
              <a:gd name="adj" fmla="val 842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85800" y="365760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train_test_split(X, y, test_size=0.2, random_state=42)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LinearRegression()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model.fit(X_train, y_train)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6587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pPr algn="r"/>
              <a:t>8</a:t>
            </a:fld>
            <a:endParaRPr lang="en-US"/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/>
          </p:nvPr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7. Model Performance</a:t>
            </a:r>
            <a:endParaRPr lang="en-US" sz="2800" dirty="0"/>
          </a:p>
        </p:txBody>
      </p:sp>
      <p:sp>
        <p:nvSpPr>
          <p:cNvPr id="3" name="Flow 1"/>
          <p:cNvSpPr/>
          <p:nvPr/>
        </p:nvSpPr>
        <p:spPr>
          <a:xfrm>
            <a:off x="457200" y="960120"/>
            <a:ext cx="1691640" cy="411480"/>
          </a:xfrm>
          <a:prstGeom prst="roundRect">
            <a:avLst>
              <a:gd name="adj" fmla="val 1777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601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X_test</a:t>
            </a:r>
            <a:endParaRPr lang="en-US" sz="1250" dirty="0"/>
          </a:p>
        </p:txBody>
      </p:sp>
      <p:pic>
        <p:nvPicPr>
          <p:cNvPr id="5" name="Arrow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9424" y="1042416"/>
            <a:ext cx="256032" cy="256032"/>
          </a:xfrm>
          <a:prstGeom prst="rect">
            <a:avLst/>
          </a:prstGeom>
        </p:spPr>
      </p:pic>
      <p:sp>
        <p:nvSpPr>
          <p:cNvPr id="6" name="Flow 2"/>
          <p:cNvSpPr/>
          <p:nvPr/>
        </p:nvSpPr>
        <p:spPr>
          <a:xfrm>
            <a:off x="2606040" y="960120"/>
            <a:ext cx="1691640" cy="411480"/>
          </a:xfrm>
          <a:prstGeom prst="roundRect">
            <a:avLst>
              <a:gd name="adj" fmla="val 1777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2606040" y="9601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model.predict()</a:t>
            </a:r>
            <a:endParaRPr lang="en-US" sz="1250" dirty="0"/>
          </a:p>
        </p:txBody>
      </p:sp>
      <p:pic>
        <p:nvPicPr>
          <p:cNvPr id="8" name="Arrow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8264" y="1042416"/>
            <a:ext cx="256032" cy="256032"/>
          </a:xfrm>
          <a:prstGeom prst="rect">
            <a:avLst/>
          </a:prstGeom>
        </p:spPr>
      </p:pic>
      <p:sp>
        <p:nvSpPr>
          <p:cNvPr id="9" name="Flow 3"/>
          <p:cNvSpPr/>
          <p:nvPr/>
        </p:nvSpPr>
        <p:spPr>
          <a:xfrm>
            <a:off x="4754880" y="960120"/>
            <a:ext cx="1508760" cy="411480"/>
          </a:xfrm>
          <a:prstGeom prst="roundRect">
            <a:avLst>
              <a:gd name="adj" fmla="val 17778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754880" y="9601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y_pred</a:t>
            </a:r>
            <a:endParaRPr lang="en-US" sz="1250" dirty="0"/>
          </a:p>
        </p:txBody>
      </p:sp>
      <p:pic>
        <p:nvPicPr>
          <p:cNvPr id="11" name="Arrow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5644" y="1042416"/>
            <a:ext cx="256032" cy="256032"/>
          </a:xfrm>
          <a:prstGeom prst="rect">
            <a:avLst/>
          </a:prstGeom>
        </p:spPr>
      </p:pic>
      <p:sp>
        <p:nvSpPr>
          <p:cNvPr id="12" name="Flow 4"/>
          <p:cNvSpPr/>
          <p:nvPr/>
        </p:nvSpPr>
        <p:spPr>
          <a:xfrm>
            <a:off x="6583680" y="960120"/>
            <a:ext cx="2103120" cy="411480"/>
          </a:xfrm>
          <a:prstGeom prst="roundRect">
            <a:avLst>
              <a:gd name="adj" fmla="val 17778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583680" y="9601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with y_test</a:t>
            </a:r>
            <a:endParaRPr lang="en-US" sz="1250" dirty="0"/>
          </a:p>
        </p:txBody>
      </p:sp>
      <p:sp>
        <p:nvSpPr>
          <p:cNvPr id="14" name="Metric MAE"/>
          <p:cNvSpPr/>
          <p:nvPr/>
        </p:nvSpPr>
        <p:spPr>
          <a:xfrm>
            <a:off x="457200" y="1554480"/>
            <a:ext cx="2057400" cy="1170432"/>
          </a:xfrm>
          <a:prstGeom prst="roundRect">
            <a:avLst>
              <a:gd name="adj" fmla="val 7813"/>
            </a:avLst>
          </a:prstGeom>
          <a:solidFill>
            <a:srgbClr val="FFFFFF">
              <a:alpha val="58000"/>
            </a:srgbClr>
          </a:solidFill>
          <a:ln w="15875">
            <a:solidFill>
              <a:srgbClr val="FFFFFF">
                <a:alpha val="75000"/>
              </a:srgbClr>
            </a:solidFill>
            <a:prstDash val="solid"/>
          </a:ln>
          <a:effectLst>
            <a:outerShdw blurRad="127000" dist="25400" dir="5400000" algn="bl" rotWithShape="0">
              <a:srgbClr val="1E3A6B">
                <a:alpha val="12000"/>
              </a:srgbClr>
            </a:outerShdw>
          </a:effectLst>
        </p:spPr>
      </p:sp>
      <p:sp>
        <p:nvSpPr>
          <p:cNvPr id="15" name="Text 10"/>
          <p:cNvSpPr txBox="1"/>
          <p:nvPr/>
        </p:nvSpPr>
        <p:spPr>
          <a:xfrm>
            <a:off x="640080" y="1645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762A8"/>
                </a:solidFill>
              </a:rPr>
              <a:t>MAE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40080" y="19202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6B"/>
                </a:solidFill>
              </a:rPr>
              <a:t>3.6541</a:t>
            </a:r>
            <a:r>
              <a:rPr lang="en-US" sz="1100" dirty="0">
                <a:solidFill>
                  <a:srgbClr val="3F5278"/>
                </a:solidFill>
              </a:rPr>
              <a:t>  km/h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640080" y="240487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F5278"/>
                </a:solidFill>
              </a:rPr>
              <a:t>Mean Absolute Error</a:t>
            </a:r>
            <a:endParaRPr lang="en-US" sz="1050" dirty="0"/>
          </a:p>
        </p:txBody>
      </p:sp>
      <p:sp>
        <p:nvSpPr>
          <p:cNvPr id="18" name="Metric MSE"/>
          <p:cNvSpPr/>
          <p:nvPr/>
        </p:nvSpPr>
        <p:spPr>
          <a:xfrm>
            <a:off x="2651760" y="1554480"/>
            <a:ext cx="2057400" cy="1170432"/>
          </a:xfrm>
          <a:prstGeom prst="roundRect">
            <a:avLst>
              <a:gd name="adj" fmla="val 7813"/>
            </a:avLst>
          </a:prstGeom>
          <a:solidFill>
            <a:srgbClr val="FFFFFF">
              <a:alpha val="58000"/>
            </a:srgbClr>
          </a:solidFill>
          <a:ln w="15875">
            <a:solidFill>
              <a:srgbClr val="FFFFFF">
                <a:alpha val="75000"/>
              </a:srgbClr>
            </a:solidFill>
            <a:prstDash val="solid"/>
          </a:ln>
          <a:effectLst>
            <a:outerShdw blurRad="127000" dist="25400" dir="5400000" algn="bl" rotWithShape="0">
              <a:srgbClr val="1E3A6B">
                <a:alpha val="12000"/>
              </a:srgbClr>
            </a:outerShdw>
          </a:effectLst>
        </p:spPr>
      </p:sp>
      <p:sp>
        <p:nvSpPr>
          <p:cNvPr id="19" name="Text 14"/>
          <p:cNvSpPr txBox="1"/>
          <p:nvPr/>
        </p:nvSpPr>
        <p:spPr>
          <a:xfrm>
            <a:off x="2834640" y="1645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B6BD6"/>
                </a:solidFill>
              </a:rPr>
              <a:t>MSE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2834640" y="19202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6B"/>
                </a:solidFill>
              </a:rPr>
              <a:t>21.1736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2834640" y="240487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F5278"/>
                </a:solidFill>
              </a:rPr>
              <a:t>Mean Squared Error</a:t>
            </a:r>
            <a:endParaRPr lang="en-US" sz="1050" dirty="0"/>
          </a:p>
        </p:txBody>
      </p:sp>
      <p:sp>
        <p:nvSpPr>
          <p:cNvPr id="22" name="Metric RMSE"/>
          <p:cNvSpPr/>
          <p:nvPr/>
        </p:nvSpPr>
        <p:spPr>
          <a:xfrm>
            <a:off x="457200" y="2834640"/>
            <a:ext cx="2057400" cy="1170432"/>
          </a:xfrm>
          <a:prstGeom prst="roundRect">
            <a:avLst>
              <a:gd name="adj" fmla="val 7813"/>
            </a:avLst>
          </a:prstGeom>
          <a:solidFill>
            <a:srgbClr val="FFFFFF">
              <a:alpha val="58000"/>
            </a:srgbClr>
          </a:solidFill>
          <a:ln w="15875">
            <a:solidFill>
              <a:srgbClr val="FFFFFF">
                <a:alpha val="75000"/>
              </a:srgbClr>
            </a:solidFill>
            <a:prstDash val="solid"/>
          </a:ln>
          <a:effectLst>
            <a:outerShdw blurRad="127000" dist="25400" dir="5400000" algn="bl" rotWithShape="0">
              <a:srgbClr val="1E3A6B">
                <a:alpha val="12000"/>
              </a:srgbClr>
            </a:outerShdw>
          </a:effectLst>
        </p:spPr>
      </p:sp>
      <p:sp>
        <p:nvSpPr>
          <p:cNvPr id="23" name="Text 18"/>
          <p:cNvSpPr txBox="1"/>
          <p:nvPr/>
        </p:nvSpPr>
        <p:spPr>
          <a:xfrm>
            <a:off x="640080" y="2926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762A8"/>
                </a:solidFill>
              </a:rPr>
              <a:t>RMSE</a:t>
            </a:r>
            <a:endParaRPr lang="en-US" sz="1300" dirty="0"/>
          </a:p>
        </p:txBody>
      </p:sp>
      <p:sp>
        <p:nvSpPr>
          <p:cNvPr id="24" name="Text 19"/>
          <p:cNvSpPr txBox="1"/>
          <p:nvPr/>
        </p:nvSpPr>
        <p:spPr>
          <a:xfrm>
            <a:off x="640080" y="32004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6B"/>
                </a:solidFill>
              </a:rPr>
              <a:t>4.6015</a:t>
            </a:r>
            <a:r>
              <a:rPr lang="en-US" sz="1100" dirty="0">
                <a:solidFill>
                  <a:srgbClr val="3F5278"/>
                </a:solidFill>
              </a:rPr>
              <a:t>  km/h</a:t>
            </a:r>
            <a:endParaRPr lang="en-US" sz="1400" dirty="0"/>
          </a:p>
        </p:txBody>
      </p:sp>
      <p:sp>
        <p:nvSpPr>
          <p:cNvPr id="25" name="Text 20"/>
          <p:cNvSpPr txBox="1"/>
          <p:nvPr/>
        </p:nvSpPr>
        <p:spPr>
          <a:xfrm>
            <a:off x="640080" y="368503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F5278"/>
                </a:solidFill>
              </a:rPr>
              <a:t>Root Mean Squared Error</a:t>
            </a:r>
            <a:endParaRPr lang="en-US" sz="1050" dirty="0"/>
          </a:p>
        </p:txBody>
      </p:sp>
      <p:sp>
        <p:nvSpPr>
          <p:cNvPr id="26" name="Metric R²"/>
          <p:cNvSpPr/>
          <p:nvPr/>
        </p:nvSpPr>
        <p:spPr>
          <a:xfrm>
            <a:off x="2651760" y="2834640"/>
            <a:ext cx="2057400" cy="1170432"/>
          </a:xfrm>
          <a:prstGeom prst="roundRect">
            <a:avLst>
              <a:gd name="adj" fmla="val 7813"/>
            </a:avLst>
          </a:prstGeom>
          <a:solidFill>
            <a:schemeClr val="accent2"/>
          </a:solidFill>
          <a:ln w="15875">
            <a:solidFill>
              <a:schemeClr val="accent2"/>
            </a:solidFill>
            <a:prstDash val="solid"/>
          </a:ln>
          <a:effectLst>
            <a:outerShdw blurRad="127000" dist="25400" dir="5400000" algn="bl" rotWithShape="0">
              <a:srgbClr val="1E3A6B">
                <a:alpha val="12000"/>
              </a:srgbClr>
            </a:outerShdw>
          </a:effectLst>
        </p:spPr>
      </p:sp>
      <p:sp>
        <p:nvSpPr>
          <p:cNvPr id="27" name="Text 22"/>
          <p:cNvSpPr txBox="1"/>
          <p:nvPr/>
        </p:nvSpPr>
        <p:spPr>
          <a:xfrm>
            <a:off x="2834640" y="2926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FFFF"/>
                </a:solidFill>
              </a:rPr>
              <a:t>R²</a:t>
            </a:r>
            <a:endParaRPr lang="en-US" sz="1300" dirty="0"/>
          </a:p>
        </p:txBody>
      </p:sp>
      <p:sp>
        <p:nvSpPr>
          <p:cNvPr id="28" name="Text 23"/>
          <p:cNvSpPr txBox="1"/>
          <p:nvPr/>
        </p:nvSpPr>
        <p:spPr>
          <a:xfrm>
            <a:off x="2834640" y="32004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0.9647</a:t>
            </a:r>
            <a:endParaRPr lang="en-US" sz="1400" dirty="0"/>
          </a:p>
        </p:txBody>
      </p:sp>
      <p:sp>
        <p:nvSpPr>
          <p:cNvPr id="29" name="Text 24"/>
          <p:cNvSpPr txBox="1"/>
          <p:nvPr/>
        </p:nvSpPr>
        <p:spPr>
          <a:xfrm>
            <a:off x="2834640" y="368503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6F6F2"/>
                </a:solidFill>
              </a:rPr>
              <a:t>96.47% variance explained</a:t>
            </a:r>
            <a:endParaRPr lang="en-US" sz="1050" dirty="0"/>
          </a:p>
        </p:txBody>
      </p:sp>
      <p:sp>
        <p:nvSpPr>
          <p:cNvPr id="30" name="Insight"/>
          <p:cNvSpPr/>
          <p:nvPr/>
        </p:nvSpPr>
        <p:spPr>
          <a:xfrm>
            <a:off x="457200" y="4114800"/>
            <a:ext cx="4251960" cy="457200"/>
          </a:xfrm>
          <a:prstGeom prst="roundRect">
            <a:avLst>
              <a:gd name="adj" fmla="val 16000"/>
            </a:avLst>
          </a:prstGeom>
          <a:solidFill>
            <a:srgbClr val="D9F0EB"/>
          </a:solidFill>
          <a:ln w="12700">
            <a:solidFill>
              <a:srgbClr val="D9F0EB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594360" y="41148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6B5C"/>
                </a:solidFill>
              </a:rPr>
              <a:t>Lower MAE / RMSE and R² near 1 = a better model.</a:t>
            </a:r>
            <a:endParaRPr lang="en-US" sz="1200" dirty="0"/>
          </a:p>
        </p:txBody>
      </p:sp>
      <p:sp>
        <p:nvSpPr>
          <p:cNvPr id="32" name="Chart card"/>
          <p:cNvSpPr/>
          <p:nvPr/>
        </p:nvSpPr>
        <p:spPr>
          <a:xfrm>
            <a:off x="4937760" y="1554480"/>
            <a:ext cx="3749040" cy="3017520"/>
          </a:xfrm>
          <a:prstGeom prst="roundRect">
            <a:avLst>
              <a:gd name="adj" fmla="val 3030"/>
            </a:avLst>
          </a:prstGeom>
          <a:solidFill>
            <a:srgbClr val="FFFFFF">
              <a:alpha val="58000"/>
            </a:srgbClr>
          </a:solidFill>
          <a:ln w="15875">
            <a:solidFill>
              <a:srgbClr val="FFFFFF">
                <a:alpha val="75000"/>
              </a:srgbClr>
            </a:solidFill>
            <a:prstDash val="solid"/>
          </a:ln>
          <a:effectLst>
            <a:outerShdw blurRad="127000" dist="25400" dir="5400000" algn="bl" rotWithShape="0">
              <a:srgbClr val="1E3A6B">
                <a:alpha val="12000"/>
              </a:srgbClr>
            </a:outerShdw>
          </a:effectLst>
        </p:spPr>
      </p:sp>
      <p:pic>
        <p:nvPicPr>
          <p:cNvPr id="33" name="Actual vs predicted chart" descr="Actual vs predicted speed scatter plo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1460" y="1645920"/>
            <a:ext cx="2801639" cy="2331720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5120640" y="40233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3A6B"/>
                </a:solidFill>
              </a:rPr>
              <a:t>Actual vs Predicted</a:t>
            </a:r>
            <a:endParaRPr lang="en-US" sz="1300" dirty="0"/>
          </a:p>
        </p:txBody>
      </p:sp>
      <p:sp>
        <p:nvSpPr>
          <p:cNvPr id="35" name="Text 29"/>
          <p:cNvSpPr txBox="1"/>
          <p:nvPr/>
        </p:nvSpPr>
        <p:spPr>
          <a:xfrm>
            <a:off x="5120640" y="427024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F5278"/>
                </a:solidFill>
              </a:rPr>
              <a:t>Points hug the diagonal = accurate predictions.</a:t>
            </a:r>
            <a:endParaRPr lang="en-US" sz="11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6587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pPr algn="r"/>
              <a:t>9</a:t>
            </a:fld>
            <a:endParaRPr lang="en-US"/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/>
          </p:nvPr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8. Example: Predict Speed</a:t>
            </a:r>
            <a:endParaRPr lang="en-US" sz="2800" dirty="0"/>
          </a:p>
        </p:txBody>
      </p:sp>
      <p:sp>
        <p:nvSpPr>
          <p:cNvPr id="3" name="New Input"/>
          <p:cNvSpPr/>
          <p:nvPr/>
        </p:nvSpPr>
        <p:spPr>
          <a:xfrm>
            <a:off x="457200" y="1005840"/>
            <a:ext cx="2468880" cy="1828800"/>
          </a:xfrm>
          <a:prstGeom prst="roundRect">
            <a:avLst>
              <a:gd name="adj" fmla="val 5000"/>
            </a:avLst>
          </a:prstGeom>
          <a:solidFill>
            <a:srgbClr val="FFFFFF">
              <a:alpha val="58000"/>
            </a:srgbClr>
          </a:solidFill>
          <a:ln w="15875">
            <a:solidFill>
              <a:srgbClr val="FFFFFF">
                <a:alpha val="75000"/>
              </a:srgbClr>
            </a:solidFill>
            <a:prstDash val="solid"/>
          </a:ln>
          <a:effectLst>
            <a:outerShdw blurRad="127000" dist="25400" dir="5400000" algn="bl" rotWithShape="0">
              <a:srgbClr val="1E3A6B">
                <a:alpha val="12000"/>
              </a:srgbClr>
            </a:outerShdw>
          </a:effectLst>
        </p:spPr>
      </p:sp>
      <p:sp>
        <p:nvSpPr>
          <p:cNvPr id="4" name="Icon circle"/>
          <p:cNvSpPr/>
          <p:nvPr/>
        </p:nvSpPr>
        <p:spPr>
          <a:xfrm>
            <a:off x="1440180" y="1165860"/>
            <a:ext cx="502920" cy="502920"/>
          </a:xfrm>
          <a:prstGeom prst="ellipse">
            <a:avLst/>
          </a:prstGeom>
          <a:solidFill>
            <a:srgbClr val="FFFFFF">
              <a:alpha val="85000"/>
            </a:srgbClr>
          </a:solidFill>
          <a:ln w="19050">
            <a:solidFill>
              <a:srgbClr val="2762A8"/>
            </a:solidFill>
            <a:prstDash val="solid"/>
          </a:ln>
        </p:spPr>
      </p:sp>
      <p:pic>
        <p:nvPicPr>
          <p:cNvPr id="5" name="Icon FaKeyboard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0881" y="1286561"/>
            <a:ext cx="261518" cy="26151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1783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6B"/>
                </a:solidFill>
              </a:rPr>
              <a:t>New Input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208483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F5278"/>
                </a:solidFill>
              </a:rPr>
              <a:t>RPM 3000  |  Throttle 45%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3F5278"/>
                </a:solidFill>
              </a:rPr>
              <a:t>Brake 0%  |  Load 40%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3F5278"/>
                </a:solidFill>
              </a:rPr>
              <a:t>Gear 3  |  Slope 0%</a:t>
            </a:r>
            <a:endParaRPr lang="en-US" sz="1150" dirty="0"/>
          </a:p>
        </p:txBody>
      </p:sp>
      <p:pic>
        <p:nvPicPr>
          <p:cNvPr id="8" name="Arrow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0944" y="1828800"/>
            <a:ext cx="256032" cy="256032"/>
          </a:xfrm>
          <a:prstGeom prst="rect">
            <a:avLst/>
          </a:prstGeom>
        </p:spPr>
      </p:pic>
      <p:sp>
        <p:nvSpPr>
          <p:cNvPr id="9" name="Trained Model"/>
          <p:cNvSpPr/>
          <p:nvPr/>
        </p:nvSpPr>
        <p:spPr>
          <a:xfrm>
            <a:off x="3337560" y="1005840"/>
            <a:ext cx="2468880" cy="1828800"/>
          </a:xfrm>
          <a:prstGeom prst="roundRect">
            <a:avLst>
              <a:gd name="adj" fmla="val 5000"/>
            </a:avLst>
          </a:prstGeom>
          <a:solidFill>
            <a:srgbClr val="FFFFFF">
              <a:alpha val="58000"/>
            </a:srgbClr>
          </a:solidFill>
          <a:ln w="15875">
            <a:solidFill>
              <a:srgbClr val="FFFFFF">
                <a:alpha val="75000"/>
              </a:srgbClr>
            </a:solidFill>
            <a:prstDash val="solid"/>
          </a:ln>
          <a:effectLst>
            <a:outerShdw blurRad="127000" dist="25400" dir="5400000" algn="bl" rotWithShape="0">
              <a:srgbClr val="1E3A6B">
                <a:alpha val="12000"/>
              </a:srgbClr>
            </a:outerShdw>
          </a:effectLst>
        </p:spPr>
      </p:sp>
      <p:sp>
        <p:nvSpPr>
          <p:cNvPr id="10" name="Icon circle"/>
          <p:cNvSpPr/>
          <p:nvPr/>
        </p:nvSpPr>
        <p:spPr>
          <a:xfrm>
            <a:off x="4320540" y="1165860"/>
            <a:ext cx="502920" cy="502920"/>
          </a:xfrm>
          <a:prstGeom prst="ellipse">
            <a:avLst/>
          </a:prstGeom>
          <a:solidFill>
            <a:srgbClr val="FFFFFF">
              <a:alpha val="85000"/>
            </a:srgbClr>
          </a:solidFill>
          <a:ln w="19050">
            <a:solidFill>
              <a:srgbClr val="7B6BD6"/>
            </a:solidFill>
            <a:prstDash val="solid"/>
          </a:ln>
        </p:spPr>
      </p:sp>
      <p:pic>
        <p:nvPicPr>
          <p:cNvPr id="11" name="Icon FaCogs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1241" y="1286561"/>
            <a:ext cx="261518" cy="26151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429000" y="1783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6B"/>
                </a:solidFill>
              </a:rPr>
              <a:t>Trained Model</a:t>
            </a:r>
            <a:endParaRPr lang="en-US" sz="1400" dirty="0"/>
          </a:p>
        </p:txBody>
      </p:sp>
      <p:sp>
        <p:nvSpPr>
          <p:cNvPr id="13" name="Text 8"/>
          <p:cNvSpPr txBox="1"/>
          <p:nvPr/>
        </p:nvSpPr>
        <p:spPr>
          <a:xfrm>
            <a:off x="3474720" y="208483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F5278"/>
                </a:solidFill>
              </a:rPr>
              <a:t>Applies the line learned from 16,000 training rows</a:t>
            </a:r>
            <a:endParaRPr lang="en-US" sz="1150" dirty="0"/>
          </a:p>
        </p:txBody>
      </p:sp>
      <p:pic>
        <p:nvPicPr>
          <p:cNvPr id="14" name="Arrow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1304" y="1828800"/>
            <a:ext cx="256032" cy="256032"/>
          </a:xfrm>
          <a:prstGeom prst="rect">
            <a:avLst/>
          </a:prstGeom>
        </p:spPr>
      </p:pic>
      <p:sp>
        <p:nvSpPr>
          <p:cNvPr id="15" name="Predicted Speed"/>
          <p:cNvSpPr/>
          <p:nvPr/>
        </p:nvSpPr>
        <p:spPr>
          <a:xfrm>
            <a:off x="6217920" y="1005840"/>
            <a:ext cx="2468880" cy="182880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 w="15875">
            <a:solidFill>
              <a:schemeClr val="accent2"/>
            </a:solidFill>
            <a:prstDash val="solid"/>
          </a:ln>
          <a:effectLst>
            <a:outerShdw blurRad="127000" dist="25400" dir="5400000" algn="bl" rotWithShape="0">
              <a:srgbClr val="1E3A6B">
                <a:alpha val="12000"/>
              </a:srgbClr>
            </a:outerShdw>
          </a:effectLst>
        </p:spPr>
      </p:sp>
      <p:sp>
        <p:nvSpPr>
          <p:cNvPr id="16" name="Icon circle"/>
          <p:cNvSpPr/>
          <p:nvPr/>
        </p:nvSpPr>
        <p:spPr>
          <a:xfrm>
            <a:off x="7200900" y="1165860"/>
            <a:ext cx="502920" cy="502920"/>
          </a:xfrm>
          <a:prstGeom prst="ellipse">
            <a:avLst/>
          </a:prstGeom>
          <a:solidFill>
            <a:srgbClr val="FFFFFF">
              <a:alpha val="85000"/>
            </a:srgbClr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17" name="Icon FaTachometerAlt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1601" y="1286561"/>
            <a:ext cx="261518" cy="261518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6309360" y="1783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Predicted Speed</a:t>
            </a:r>
            <a:endParaRPr lang="en-US" sz="1400" dirty="0"/>
          </a:p>
        </p:txBody>
      </p:sp>
      <p:sp>
        <p:nvSpPr>
          <p:cNvPr id="19" name="Text 12"/>
          <p:cNvSpPr txBox="1"/>
          <p:nvPr/>
        </p:nvSpPr>
        <p:spPr>
          <a:xfrm>
            <a:off x="6355080" y="208483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46.51 km/h</a:t>
            </a:r>
            <a:endParaRPr lang="en-US" sz="2200" dirty="0"/>
          </a:p>
        </p:txBody>
      </p:sp>
      <p:sp>
        <p:nvSpPr>
          <p:cNvPr id="20" name="Code strip"/>
          <p:cNvSpPr/>
          <p:nvPr/>
        </p:nvSpPr>
        <p:spPr>
          <a:xfrm>
            <a:off x="457200" y="3017520"/>
            <a:ext cx="8229600" cy="457200"/>
          </a:xfrm>
          <a:prstGeom prst="roundRect">
            <a:avLst>
              <a:gd name="adj" fmla="val 16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1" name="Text 14"/>
          <p:cNvSpPr txBox="1"/>
          <p:nvPr/>
        </p:nvSpPr>
        <p:spPr>
          <a:xfrm>
            <a:off x="685800" y="30175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predicted_speed = model.predict(new_data)</a:t>
            </a:r>
            <a:endParaRPr lang="en-US" sz="1300" dirty="0"/>
          </a:p>
        </p:txBody>
      </p:sp>
      <p:sp>
        <p:nvSpPr>
          <p:cNvPr id="22" name="Summary chip 1"/>
          <p:cNvSpPr/>
          <p:nvPr/>
        </p:nvSpPr>
        <p:spPr>
          <a:xfrm>
            <a:off x="457200" y="370332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70000"/>
            </a:srgbClr>
          </a:solidFill>
          <a:ln w="15875">
            <a:solidFill>
              <a:srgbClr val="2762A8"/>
            </a:solidFill>
            <a:prstDash val="solid"/>
          </a:ln>
        </p:spPr>
      </p:sp>
      <p:pic>
        <p:nvPicPr>
          <p:cNvPr id="23" name="Icon check 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3813048"/>
            <a:ext cx="237744" cy="237744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914400" y="37033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6B"/>
                </a:solidFill>
              </a:rPr>
              <a:t>Clean data</a:t>
            </a:r>
            <a:endParaRPr lang="en-US" sz="1150" dirty="0"/>
          </a:p>
        </p:txBody>
      </p:sp>
      <p:sp>
        <p:nvSpPr>
          <p:cNvPr id="25" name="Summary chip 2"/>
          <p:cNvSpPr/>
          <p:nvPr/>
        </p:nvSpPr>
        <p:spPr>
          <a:xfrm>
            <a:off x="2560320" y="370332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70000"/>
            </a:srgbClr>
          </a:solidFill>
          <a:ln w="15875">
            <a:solidFill>
              <a:srgbClr val="7B6BD6"/>
            </a:solidFill>
            <a:prstDash val="solid"/>
          </a:ln>
        </p:spPr>
      </p:sp>
      <p:pic>
        <p:nvPicPr>
          <p:cNvPr id="26" name="Icon check 2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97480" y="3813048"/>
            <a:ext cx="237744" cy="237744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3017520" y="37033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6B"/>
                </a:solidFill>
              </a:rPr>
              <a:t>Train on 80%</a:t>
            </a:r>
            <a:endParaRPr lang="en-US" sz="1150" dirty="0"/>
          </a:p>
        </p:txBody>
      </p:sp>
      <p:sp>
        <p:nvSpPr>
          <p:cNvPr id="28" name="Summary chip 3"/>
          <p:cNvSpPr/>
          <p:nvPr/>
        </p:nvSpPr>
        <p:spPr>
          <a:xfrm>
            <a:off x="4663440" y="370332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70000"/>
            </a:srgbClr>
          </a:solidFill>
          <a:ln w="15875">
            <a:solidFill>
              <a:srgbClr val="E76F51"/>
            </a:solidFill>
            <a:prstDash val="solid"/>
          </a:ln>
        </p:spPr>
      </p:sp>
      <p:pic>
        <p:nvPicPr>
          <p:cNvPr id="29" name="Icon check 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00600" y="3813048"/>
            <a:ext cx="237744" cy="237744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5120640" y="37033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6B"/>
                </a:solidFill>
              </a:rPr>
              <a:t>Evaluate (R² 0.9647)</a:t>
            </a:r>
            <a:endParaRPr lang="en-US" sz="1150" dirty="0"/>
          </a:p>
        </p:txBody>
      </p:sp>
      <p:sp>
        <p:nvSpPr>
          <p:cNvPr id="31" name="Summary chip 4"/>
          <p:cNvSpPr/>
          <p:nvPr/>
        </p:nvSpPr>
        <p:spPr>
          <a:xfrm>
            <a:off x="6766560" y="370332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70000"/>
            </a:srgbClr>
          </a:solidFill>
          <a:ln w="15875">
            <a:solidFill>
              <a:srgbClr val="2EA995"/>
            </a:solidFill>
            <a:prstDash val="solid"/>
          </a:ln>
        </p:spPr>
      </p:sp>
      <p:pic>
        <p:nvPicPr>
          <p:cNvPr id="32" name="Icon check 4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03720" y="3813048"/>
            <a:ext cx="237744" cy="237744"/>
          </a:xfrm>
          <a:prstGeom prst="rect">
            <a:avLst/>
          </a:prstGeom>
        </p:spPr>
      </p:pic>
      <p:sp>
        <p:nvSpPr>
          <p:cNvPr id="33" name="Text 22"/>
          <p:cNvSpPr txBox="1"/>
          <p:nvPr/>
        </p:nvSpPr>
        <p:spPr>
          <a:xfrm>
            <a:off x="7223760" y="37033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6B"/>
                </a:solidFill>
              </a:rPr>
              <a:t>Predict new speed</a:t>
            </a:r>
            <a:endParaRPr lang="en-US" sz="1150" dirty="0"/>
          </a:p>
        </p:txBody>
      </p:sp>
      <p:sp>
        <p:nvSpPr>
          <p:cNvPr id="34" name="Text 23"/>
          <p:cNvSpPr txBox="1"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F5278"/>
                </a:solidFill>
              </a:rPr>
              <a:t>Example from the fitted model on synthetic demo data, not a real-world measurement.</a:t>
            </a:r>
            <a:endParaRPr lang="en-US" sz="105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6587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pPr algn="r"/>
              <a:t>10</a:t>
            </a:fld>
            <a:endParaRPr lang="en-US"/>
          </a:p>
        </p:txBody>
      </p:sp>
    </p:spTree>
  </p:cSld>
  <p:clrMapOvr>
    <a:masterClrMapping/>
  </p:clrMapOvr>
  <p:transition>
    <p:split orient="vert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con chart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97280"/>
            <a:ext cx="502920" cy="5029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17830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2EC4A8"/>
                </a:solidFill>
              </a:rPr>
              <a:t>THANK YOU</a:t>
            </a:r>
            <a:endParaRPr lang="en-US" sz="54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2651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</a:rPr>
              <a:t>Any questions?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3200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8FB8F0"/>
                </a:solidFill>
              </a:rPr>
              <a:t>Car Speed Prediction using Linear Regression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4434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9D8F0"/>
                </a:solidFill>
              </a:rPr>
              <a:t>Abhay Singh   |   Infopark Institute</a:t>
            </a:r>
            <a:endParaRPr lang="en-US" sz="1200" dirty="0"/>
          </a:p>
        </p:txBody>
      </p:sp>
      <p:sp>
        <p:nvSpPr>
          <p:cNvPr id="8" name="Text 0"/>
          <p:cNvSpPr>
            <a:spLocks noGrp="1"/>
          </p:cNvSpPr>
          <p:nvPr>
            <p:ph type="title" idx="100"/>
          </p:nvPr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2800" dirty="0"/>
          </a:p>
        </p:txBody>
      </p:sp>
    </p:spTree>
  </p:cSld>
  <p:clrMapOvr>
    <a:masterClrMapping/>
  </p:clrMapOvr>
  <p:transition>
    <p:split orient="vert"/>
  </p:transition>
</p:sld>
</file>

<file path=ppt/theme/theme1.xml><?xml version="1.0" encoding="utf-8"?>
<a:theme xmlns:a="http://schemas.openxmlformats.org/drawingml/2006/main" name="Infopark Car Speed">
  <a:themeElements>
    <a:clrScheme name="Infopark Car Speed">
      <a:dk1>
        <a:srgbClr val="14264B"/>
      </a:dk1>
      <a:lt1>
        <a:srgbClr val="FFFFFF"/>
      </a:lt1>
      <a:dk2>
        <a:srgbClr val="1E3A6B"/>
      </a:dk2>
      <a:lt2>
        <a:srgbClr val="EDF4FC"/>
      </a:lt2>
      <a:accent1>
        <a:srgbClr val="2762A8"/>
      </a:accent1>
      <a:accent2>
        <a:srgbClr val="2EA995"/>
      </a:accent2>
      <a:accent3>
        <a:srgbClr val="7B6BD6"/>
      </a:accent3>
      <a:accent4>
        <a:srgbClr val="F5B82E"/>
      </a:accent4>
      <a:accent5>
        <a:srgbClr val="E76F51"/>
      </a:accent5>
      <a:accent6>
        <a:srgbClr val="5B8BD6"/>
      </a:accent6>
      <a:hlink>
        <a:srgbClr val="2762A8"/>
      </a:hlink>
      <a:folHlink>
        <a:srgbClr val="7B6BD6"/>
      </a:folHlink>
    </a:clrScheme>
    <a:fontScheme name="Infopark Car Speed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1181</Words>
  <Application>Microsoft Office PowerPoint</Application>
  <PresentationFormat>On-screen Show (16:9)</PresentationFormat>
  <Paragraphs>196</Paragraphs>
  <Slides>11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Infopark Car Speed</vt:lpstr>
      <vt:lpstr>Slide 1</vt:lpstr>
      <vt:lpstr>Project Roadmap</vt:lpstr>
      <vt:lpstr>1. Import Libraries &amp; Upload File</vt:lpstr>
      <vt:lpstr>2. Inspect the Dataset</vt:lpstr>
      <vt:lpstr>3. Check Data Quality</vt:lpstr>
      <vt:lpstr>4. Define Features &amp; Target</vt:lpstr>
      <vt:lpstr>5. Data Visualization</vt:lpstr>
      <vt:lpstr>6. Train–Test Split &amp; Create the Model</vt:lpstr>
      <vt:lpstr>7. Model Performance</vt:lpstr>
      <vt:lpstr>8. Example: Predict Speed</vt:lpstr>
      <vt:lpstr>Slide 11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 Speed Prediction using Linear Regression</dc:title>
  <dc:subject>PptxGenJS Presentation</dc:subject>
  <dc:creator>Abhay Singh</dc:creator>
  <cp:lastModifiedBy>DELL</cp:lastModifiedBy>
  <cp:revision>3</cp:revision>
  <dcterms:created xsi:type="dcterms:W3CDTF">2026-10-17T02:46:45Z</dcterms:created>
  <dcterms:modified xsi:type="dcterms:W3CDTF">2026-10-17T03:05:21Z</dcterms:modified>
</cp:coreProperties>
</file>